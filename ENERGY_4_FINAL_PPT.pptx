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046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3261E"/>
          </a:solidFill>
          <a:ln w="12700">
            <a:solidFill>
              <a:srgbClr val="B3261E">
                <a:alpha val="0"/>
              </a:srgbClr>
            </a:solidFill>
            <a:prstDash val="solid"/>
          </a:ln>
        </p:spPr>
      </p:sp>
      <p:sp>
        <p:nvSpPr>
          <p:cNvPr id="3" name="Shape 1"/>
          <p:cNvSpPr/>
          <p:nvPr/>
        </p:nvSpPr>
        <p:spPr>
          <a:xfrm>
            <a:off x="0" y="6720840"/>
            <a:ext cx="12191695" cy="137160"/>
          </a:xfrm>
          <a:prstGeom prst="rect">
            <a:avLst/>
          </a:prstGeom>
          <a:solidFill>
            <a:srgbClr val="FCEBE8"/>
          </a:solidFill>
          <a:ln w="12700">
            <a:solidFill>
              <a:srgbClr val="FCEBE8">
                <a:alpha val="0"/>
              </a:srgbClr>
            </a:solidFill>
            <a:prstDash val="solid"/>
          </a:ln>
        </p:spPr>
      </p:sp>
      <p:sp>
        <p:nvSpPr>
          <p:cNvPr id="4" name="Shape 2"/>
          <p:cNvSpPr/>
          <p:nvPr/>
        </p:nvSpPr>
        <p:spPr>
          <a:xfrm>
            <a:off x="594360" y="713232"/>
            <a:ext cx="109728" cy="5257800"/>
          </a:xfrm>
          <a:prstGeom prst="rect">
            <a:avLst/>
          </a:prstGeom>
          <a:solidFill>
            <a:srgbClr val="B3261E"/>
          </a:solidFill>
          <a:ln w="12700">
            <a:solidFill>
              <a:srgbClr val="B3261E">
                <a:alpha val="0"/>
              </a:srgbClr>
            </a:solidFill>
            <a:prstDash val="solid"/>
          </a:ln>
        </p:spPr>
      </p:sp>
      <p:sp>
        <p:nvSpPr>
          <p:cNvPr id="5" name="Text 3"/>
          <p:cNvSpPr/>
          <p:nvPr/>
        </p:nvSpPr>
        <p:spPr>
          <a:xfrm>
            <a:off x="868680" y="960120"/>
            <a:ext cx="2743200" cy="256032"/>
          </a:xfrm>
          <a:prstGeom prst="rect">
            <a:avLst/>
          </a:prstGeom>
          <a:noFill/>
          <a:ln/>
        </p:spPr>
        <p:txBody>
          <a:bodyPr wrap="square" lIns="0" tIns="0" rIns="0" bIns="0" rtlCol="0" anchor="ctr"/>
          <a:lstStyle/>
          <a:p>
            <a:pPr marL="0" indent="0">
              <a:buNone/>
            </a:pPr>
            <a:r>
              <a:rPr lang="en-US" sz="1100" b="1" dirty="0">
                <a:solidFill>
                  <a:srgbClr val="B3261E"/>
                </a:solidFill>
              </a:rPr>
              <a:t>PYTHON PROJECT</a:t>
            </a:r>
            <a:endParaRPr lang="en-US" sz="1100" dirty="0"/>
          </a:p>
        </p:txBody>
      </p:sp>
      <p:sp>
        <p:nvSpPr>
          <p:cNvPr id="6" name="Text 4"/>
          <p:cNvSpPr/>
          <p:nvPr/>
        </p:nvSpPr>
        <p:spPr>
          <a:xfrm>
            <a:off x="868680" y="1371600"/>
            <a:ext cx="5577840" cy="1170432"/>
          </a:xfrm>
          <a:prstGeom prst="rect">
            <a:avLst/>
          </a:prstGeom>
          <a:noFill/>
          <a:ln/>
        </p:spPr>
        <p:txBody>
          <a:bodyPr wrap="square" lIns="0" tIns="0" rIns="0" bIns="0" rtlCol="0" anchor="ctr">
            <a:normAutofit/>
          </a:bodyPr>
          <a:lstStyle/>
          <a:p>
            <a:pPr marL="0" indent="0">
              <a:buNone/>
            </a:pPr>
            <a:r>
              <a:rPr lang="en-US" sz="3500" b="1" dirty="0">
                <a:solidFill>
                  <a:srgbClr val="19324D"/>
                </a:solidFill>
              </a:rPr>
              <a:t>News Information</a:t>
            </a:r>
            <a:endParaRPr lang="en-US" sz="3500" dirty="0"/>
          </a:p>
          <a:p>
            <a:pPr marL="0" indent="0">
              <a:buNone/>
            </a:pPr>
            <a:r>
              <a:rPr lang="en-US" sz="3500" b="1" dirty="0">
                <a:solidFill>
                  <a:srgbClr val="19324D"/>
                </a:solidFill>
              </a:rPr>
              <a:t>Aggregator</a:t>
            </a:r>
            <a:endParaRPr lang="en-US" sz="3500" dirty="0"/>
          </a:p>
        </p:txBody>
      </p:sp>
      <p:sp>
        <p:nvSpPr>
          <p:cNvPr id="7" name="Text 5"/>
          <p:cNvSpPr/>
          <p:nvPr/>
        </p:nvSpPr>
        <p:spPr>
          <a:xfrm>
            <a:off x="896112" y="2761488"/>
            <a:ext cx="5440680" cy="685800"/>
          </a:xfrm>
          <a:prstGeom prst="rect">
            <a:avLst/>
          </a:prstGeom>
          <a:noFill/>
          <a:ln/>
        </p:spPr>
        <p:txBody>
          <a:bodyPr wrap="square" lIns="254" tIns="254" rIns="254" bIns="254" rtlCol="0" anchor="ctr">
            <a:normAutofit fontScale="92500" lnSpcReduction="10000"/>
          </a:bodyPr>
          <a:lstStyle/>
          <a:p>
            <a:pPr marL="0" indent="0">
              <a:buNone/>
            </a:pPr>
            <a:r>
              <a:rPr lang="en-US" sz="1700" dirty="0">
                <a:solidFill>
                  <a:srgbClr val="1F2937"/>
                </a:solidFill>
              </a:rPr>
              <a:t>Fetch, scrape, clean and visualise current news articles using API integration, web scraping, data processing and a simple GUI.</a:t>
            </a:r>
            <a:endParaRPr lang="en-US" sz="1700" dirty="0"/>
          </a:p>
        </p:txBody>
      </p:sp>
      <p:sp>
        <p:nvSpPr>
          <p:cNvPr id="8" name="Shape 6"/>
          <p:cNvSpPr/>
          <p:nvPr/>
        </p:nvSpPr>
        <p:spPr>
          <a:xfrm>
            <a:off x="868680" y="3986784"/>
            <a:ext cx="1417320" cy="960120"/>
          </a:xfrm>
          <a:prstGeom prst="roundRect">
            <a:avLst>
              <a:gd name="adj" fmla="val 7619"/>
            </a:avLst>
          </a:prstGeom>
          <a:solidFill>
            <a:srgbClr val="FFFFFF"/>
          </a:solidFill>
          <a:ln w="12700">
            <a:solidFill>
              <a:srgbClr val="F0C5C0"/>
            </a:solidFill>
            <a:prstDash val="solid"/>
          </a:ln>
        </p:spPr>
      </p:sp>
      <p:sp>
        <p:nvSpPr>
          <p:cNvPr id="9" name="Text 7"/>
          <p:cNvSpPr/>
          <p:nvPr/>
        </p:nvSpPr>
        <p:spPr>
          <a:xfrm>
            <a:off x="1005840" y="4133088"/>
            <a:ext cx="1143000" cy="320040"/>
          </a:xfrm>
          <a:prstGeom prst="rect">
            <a:avLst/>
          </a:prstGeom>
          <a:noFill/>
          <a:ln/>
        </p:spPr>
        <p:txBody>
          <a:bodyPr wrap="square" lIns="0" tIns="0" rIns="0" bIns="0" rtlCol="0" anchor="ctr">
            <a:normAutofit lnSpcReduction="10000"/>
          </a:bodyPr>
          <a:lstStyle/>
          <a:p>
            <a:pPr marL="0" indent="0" algn="ctr">
              <a:buNone/>
            </a:pPr>
            <a:r>
              <a:rPr lang="en-US" sz="2200" b="1" dirty="0">
                <a:solidFill>
                  <a:srgbClr val="B3261E"/>
                </a:solidFill>
              </a:rPr>
              <a:t>6</a:t>
            </a:r>
            <a:endParaRPr lang="en-US" sz="2200" dirty="0"/>
          </a:p>
        </p:txBody>
      </p:sp>
      <p:sp>
        <p:nvSpPr>
          <p:cNvPr id="10" name="Text 8"/>
          <p:cNvSpPr/>
          <p:nvPr/>
        </p:nvSpPr>
        <p:spPr>
          <a:xfrm>
            <a:off x="1005840" y="4517136"/>
            <a:ext cx="1143000" cy="228600"/>
          </a:xfrm>
          <a:prstGeom prst="rect">
            <a:avLst/>
          </a:prstGeom>
          <a:noFill/>
          <a:ln/>
        </p:spPr>
        <p:txBody>
          <a:bodyPr wrap="square" lIns="0" tIns="0" rIns="0" bIns="0" rtlCol="0" anchor="ctr">
            <a:normAutofit/>
          </a:bodyPr>
          <a:lstStyle/>
          <a:p>
            <a:pPr marL="0" indent="0" algn="ctr">
              <a:buNone/>
            </a:pPr>
            <a:r>
              <a:rPr lang="en-US" sz="1050" dirty="0">
                <a:solidFill>
                  <a:srgbClr val="6B7280"/>
                </a:solidFill>
              </a:rPr>
              <a:t>Core modules</a:t>
            </a:r>
            <a:endParaRPr lang="en-US" sz="1050" dirty="0"/>
          </a:p>
        </p:txBody>
      </p:sp>
      <p:sp>
        <p:nvSpPr>
          <p:cNvPr id="11" name="Shape 9"/>
          <p:cNvSpPr/>
          <p:nvPr/>
        </p:nvSpPr>
        <p:spPr>
          <a:xfrm>
            <a:off x="2514600" y="3986784"/>
            <a:ext cx="1417320" cy="960120"/>
          </a:xfrm>
          <a:prstGeom prst="roundRect">
            <a:avLst>
              <a:gd name="adj" fmla="val 7619"/>
            </a:avLst>
          </a:prstGeom>
          <a:solidFill>
            <a:srgbClr val="FFFFFF"/>
          </a:solidFill>
          <a:ln w="12700">
            <a:solidFill>
              <a:srgbClr val="F0C5C0"/>
            </a:solidFill>
            <a:prstDash val="solid"/>
          </a:ln>
        </p:spPr>
      </p:sp>
      <p:sp>
        <p:nvSpPr>
          <p:cNvPr id="12" name="Text 10"/>
          <p:cNvSpPr/>
          <p:nvPr/>
        </p:nvSpPr>
        <p:spPr>
          <a:xfrm>
            <a:off x="2651760" y="4133088"/>
            <a:ext cx="1143000" cy="320040"/>
          </a:xfrm>
          <a:prstGeom prst="rect">
            <a:avLst/>
          </a:prstGeom>
          <a:noFill/>
          <a:ln/>
        </p:spPr>
        <p:txBody>
          <a:bodyPr wrap="square" lIns="0" tIns="0" rIns="0" bIns="0" rtlCol="0" anchor="ctr">
            <a:normAutofit lnSpcReduction="10000"/>
          </a:bodyPr>
          <a:lstStyle/>
          <a:p>
            <a:pPr marL="0" indent="0" algn="ctr">
              <a:buNone/>
            </a:pPr>
            <a:r>
              <a:rPr lang="en-US" sz="2200" b="1" dirty="0">
                <a:solidFill>
                  <a:srgbClr val="B3261E"/>
                </a:solidFill>
              </a:rPr>
              <a:t>2</a:t>
            </a:r>
            <a:endParaRPr lang="en-US" sz="2200" dirty="0"/>
          </a:p>
        </p:txBody>
      </p:sp>
      <p:sp>
        <p:nvSpPr>
          <p:cNvPr id="13" name="Text 11"/>
          <p:cNvSpPr/>
          <p:nvPr/>
        </p:nvSpPr>
        <p:spPr>
          <a:xfrm>
            <a:off x="2651760" y="4517136"/>
            <a:ext cx="1143000" cy="228600"/>
          </a:xfrm>
          <a:prstGeom prst="rect">
            <a:avLst/>
          </a:prstGeom>
          <a:noFill/>
          <a:ln/>
        </p:spPr>
        <p:txBody>
          <a:bodyPr wrap="square" lIns="0" tIns="0" rIns="0" bIns="0" rtlCol="0" anchor="ctr">
            <a:normAutofit/>
          </a:bodyPr>
          <a:lstStyle/>
          <a:p>
            <a:pPr marL="0" indent="0" algn="ctr">
              <a:buNone/>
            </a:pPr>
            <a:r>
              <a:rPr lang="en-US" sz="1050" dirty="0">
                <a:solidFill>
                  <a:srgbClr val="6B7280"/>
                </a:solidFill>
              </a:rPr>
              <a:t>Data sources</a:t>
            </a:r>
            <a:endParaRPr lang="en-US" sz="1050" dirty="0"/>
          </a:p>
        </p:txBody>
      </p:sp>
      <p:sp>
        <p:nvSpPr>
          <p:cNvPr id="14" name="Shape 12"/>
          <p:cNvSpPr/>
          <p:nvPr/>
        </p:nvSpPr>
        <p:spPr>
          <a:xfrm>
            <a:off x="4160520" y="3986784"/>
            <a:ext cx="1417320" cy="960120"/>
          </a:xfrm>
          <a:prstGeom prst="roundRect">
            <a:avLst>
              <a:gd name="adj" fmla="val 7619"/>
            </a:avLst>
          </a:prstGeom>
          <a:solidFill>
            <a:srgbClr val="FFFFFF"/>
          </a:solidFill>
          <a:ln w="12700">
            <a:solidFill>
              <a:srgbClr val="F0C5C0"/>
            </a:solidFill>
            <a:prstDash val="solid"/>
          </a:ln>
        </p:spPr>
      </p:sp>
      <p:sp>
        <p:nvSpPr>
          <p:cNvPr id="15" name="Text 13"/>
          <p:cNvSpPr/>
          <p:nvPr/>
        </p:nvSpPr>
        <p:spPr>
          <a:xfrm>
            <a:off x="4297680" y="4133088"/>
            <a:ext cx="1143000" cy="320040"/>
          </a:xfrm>
          <a:prstGeom prst="rect">
            <a:avLst/>
          </a:prstGeom>
          <a:noFill/>
          <a:ln/>
        </p:spPr>
        <p:txBody>
          <a:bodyPr wrap="square" lIns="0" tIns="0" rIns="0" bIns="0" rtlCol="0" anchor="ctr">
            <a:normAutofit lnSpcReduction="10000"/>
          </a:bodyPr>
          <a:lstStyle/>
          <a:p>
            <a:pPr marL="0" indent="0" algn="ctr">
              <a:buNone/>
            </a:pPr>
            <a:r>
              <a:rPr lang="en-US" sz="2200" b="1" dirty="0">
                <a:solidFill>
                  <a:srgbClr val="B3261E"/>
                </a:solidFill>
              </a:rPr>
              <a:t>3</a:t>
            </a:r>
            <a:endParaRPr lang="en-US" sz="2200" dirty="0"/>
          </a:p>
        </p:txBody>
      </p:sp>
      <p:sp>
        <p:nvSpPr>
          <p:cNvPr id="16" name="Text 14"/>
          <p:cNvSpPr/>
          <p:nvPr/>
        </p:nvSpPr>
        <p:spPr>
          <a:xfrm>
            <a:off x="4297680" y="4517136"/>
            <a:ext cx="1143000" cy="228600"/>
          </a:xfrm>
          <a:prstGeom prst="rect">
            <a:avLst/>
          </a:prstGeom>
          <a:noFill/>
          <a:ln/>
        </p:spPr>
        <p:txBody>
          <a:bodyPr wrap="square" lIns="0" tIns="0" rIns="0" bIns="0" rtlCol="0" anchor="ctr">
            <a:normAutofit/>
          </a:bodyPr>
          <a:lstStyle/>
          <a:p>
            <a:pPr marL="0" indent="0" algn="ctr">
              <a:buNone/>
            </a:pPr>
            <a:r>
              <a:rPr lang="en-US" sz="1050" dirty="0">
                <a:solidFill>
                  <a:srgbClr val="6B7280"/>
                </a:solidFill>
              </a:rPr>
              <a:t>Visual outputs</a:t>
            </a:r>
            <a:endParaRPr lang="en-US" sz="1050" dirty="0"/>
          </a:p>
        </p:txBody>
      </p:sp>
      <p:sp>
        <p:nvSpPr>
          <p:cNvPr id="17" name="Shape 15"/>
          <p:cNvSpPr/>
          <p:nvPr/>
        </p:nvSpPr>
        <p:spPr>
          <a:xfrm>
            <a:off x="6629400" y="960120"/>
            <a:ext cx="4526280" cy="4297680"/>
          </a:xfrm>
          <a:prstGeom prst="roundRect">
            <a:avLst>
              <a:gd name="adj" fmla="val 2128"/>
            </a:avLst>
          </a:prstGeom>
          <a:solidFill>
            <a:srgbClr val="FFFFFF"/>
          </a:solidFill>
          <a:ln w="12700">
            <a:solidFill>
              <a:srgbClr val="F3C9C5"/>
            </a:solidFill>
            <a:prstDash val="solid"/>
          </a:ln>
        </p:spPr>
      </p:sp>
      <p:sp>
        <p:nvSpPr>
          <p:cNvPr id="18" name="Text 16"/>
          <p:cNvSpPr/>
          <p:nvPr/>
        </p:nvSpPr>
        <p:spPr>
          <a:xfrm>
            <a:off x="6995160" y="1298448"/>
            <a:ext cx="3200400" cy="292608"/>
          </a:xfrm>
          <a:prstGeom prst="rect">
            <a:avLst/>
          </a:prstGeom>
          <a:noFill/>
          <a:ln/>
        </p:spPr>
        <p:txBody>
          <a:bodyPr wrap="square" lIns="0" tIns="0" rIns="0" bIns="0" rtlCol="0" anchor="ctr"/>
          <a:lstStyle/>
          <a:p>
            <a:pPr marL="0" indent="0">
              <a:buNone/>
            </a:pPr>
            <a:r>
              <a:rPr lang="en-US" sz="1800" b="1" dirty="0">
                <a:solidFill>
                  <a:srgbClr val="B3261E"/>
                </a:solidFill>
              </a:rPr>
              <a:t>Project Scope</a:t>
            </a:r>
            <a:endParaRPr lang="en-US" sz="1800" dirty="0"/>
          </a:p>
        </p:txBody>
      </p:sp>
      <p:sp>
        <p:nvSpPr>
          <p:cNvPr id="19" name="Text 17"/>
          <p:cNvSpPr/>
          <p:nvPr/>
        </p:nvSpPr>
        <p:spPr>
          <a:xfrm>
            <a:off x="6995160" y="1828800"/>
            <a:ext cx="3566160" cy="2514600"/>
          </a:xfrm>
          <a:prstGeom prst="rect">
            <a:avLst/>
          </a:prstGeom>
          <a:noFill/>
          <a:ln/>
        </p:spPr>
        <p:txBody>
          <a:bodyPr wrap="square" lIns="635" tIns="635" rIns="635" bIns="635" rtlCol="0" anchor="ctr">
            <a:normAutofit/>
          </a:bodyPr>
          <a:lstStyle/>
          <a:p>
            <a:pPr marL="127000" indent="-127000">
              <a:buSzPct val="100000"/>
              <a:buChar char="•"/>
            </a:pPr>
            <a:r>
              <a:rPr lang="en-US" sz="1400" dirty="0">
                <a:solidFill>
                  <a:srgbClr val="1F2937"/>
                </a:solidFill>
              </a:rPr>
              <a:t>NewsAPI article collection</a:t>
            </a:r>
            <a:endParaRPr lang="en-US" sz="1400" dirty="0"/>
          </a:p>
          <a:p>
            <a:pPr marL="127000" indent="-127000">
              <a:buSzPct val="100000"/>
              <a:buChar char="•"/>
            </a:pPr>
            <a:r>
              <a:rPr lang="en-US" sz="1400" dirty="0">
                <a:solidFill>
                  <a:srgbClr val="1F2937"/>
                </a:solidFill>
              </a:rPr>
              <a:t>BeautifulSoup webpage enrichment</a:t>
            </a:r>
            <a:endParaRPr lang="en-US" sz="1400" dirty="0"/>
          </a:p>
          <a:p>
            <a:pPr marL="127000" indent="-127000">
              <a:buSzPct val="100000"/>
              <a:buChar char="•"/>
            </a:pPr>
            <a:r>
              <a:rPr lang="en-US" sz="1400" dirty="0">
                <a:solidFill>
                  <a:srgbClr val="1F2937"/>
                </a:solidFill>
              </a:rPr>
              <a:t>Pandas cleaning and duplicate removal</a:t>
            </a:r>
            <a:endParaRPr lang="en-US" sz="1400" dirty="0"/>
          </a:p>
          <a:p>
            <a:pPr marL="127000" indent="-127000">
              <a:buSzPct val="100000"/>
              <a:buChar char="•"/>
            </a:pPr>
            <a:r>
              <a:rPr lang="en-US" sz="1400" dirty="0">
                <a:solidFill>
                  <a:srgbClr val="1F2937"/>
                </a:solidFill>
              </a:rPr>
              <a:t>Matplotlib visual summaries</a:t>
            </a:r>
            <a:endParaRPr lang="en-US" sz="1400" dirty="0"/>
          </a:p>
          <a:p>
            <a:pPr marL="127000" indent="-127000">
              <a:buSzPct val="100000"/>
              <a:buChar char="•"/>
            </a:pPr>
            <a:r>
              <a:rPr lang="en-US" sz="1400" dirty="0">
                <a:solidFill>
                  <a:srgbClr val="1F2937"/>
                </a:solidFill>
              </a:rPr>
              <a:t>Tkinter graphical interface</a:t>
            </a:r>
            <a:endParaRPr lang="en-US" sz="1400" dirty="0"/>
          </a:p>
          <a:p>
            <a:pPr marL="127000" indent="-127000">
              <a:buSzPct val="100000"/>
              <a:buChar char="•"/>
            </a:pPr>
            <a:r>
              <a:rPr lang="en-US" sz="1400" dirty="0">
                <a:solidFill>
                  <a:srgbClr val="1F2937"/>
                </a:solidFill>
              </a:rPr>
              <a:t>Unit testing and modular code</a:t>
            </a:r>
            <a:endParaRPr lang="en-US" sz="1400" dirty="0"/>
          </a:p>
        </p:txBody>
      </p:sp>
      <p:sp>
        <p:nvSpPr>
          <p:cNvPr id="20" name="Text 18"/>
          <p:cNvSpPr/>
          <p:nvPr/>
        </p:nvSpPr>
        <p:spPr>
          <a:xfrm>
            <a:off x="6995160" y="4608576"/>
            <a:ext cx="3840480" cy="256032"/>
          </a:xfrm>
          <a:prstGeom prst="rect">
            <a:avLst/>
          </a:prstGeom>
          <a:noFill/>
          <a:ln/>
        </p:spPr>
        <p:txBody>
          <a:bodyPr wrap="square" lIns="0" tIns="0" rIns="0" bIns="0" rtlCol="0" anchor="ctr"/>
          <a:lstStyle/>
          <a:p>
            <a:pPr marL="0" indent="0">
              <a:buNone/>
            </a:pPr>
            <a:r>
              <a:rPr lang="en-US" sz="1100" dirty="0">
                <a:solidFill>
                  <a:srgbClr val="6B7280"/>
                </a:solidFill>
              </a:rPr>
              <a:t>Python Programming  ·  Information Aggregator</a:t>
            </a:r>
            <a:endParaRPr lang="en-US" sz="1100" dirty="0"/>
          </a:p>
        </p:txBody>
      </p:sp>
      <p:sp>
        <p:nvSpPr>
          <p:cNvPr id="21" name="Text 19"/>
          <p:cNvSpPr/>
          <p:nvPr/>
        </p:nvSpPr>
        <p:spPr>
          <a:xfrm>
            <a:off x="11201400" y="6327648"/>
            <a:ext cx="411480" cy="228600"/>
          </a:xfrm>
          <a:prstGeom prst="rect">
            <a:avLst/>
          </a:prstGeom>
          <a:noFill/>
          <a:ln/>
        </p:spPr>
        <p:txBody>
          <a:bodyPr wrap="square" lIns="0" tIns="0" rIns="0" bIns="0" rtlCol="0" anchor="ctr"/>
          <a:lstStyle/>
          <a:p>
            <a:pPr marL="0" indent="0" algn="r">
              <a:buNone/>
            </a:pPr>
            <a:r>
              <a:rPr lang="en-US" sz="900" dirty="0">
                <a:solidFill>
                  <a:srgbClr val="6B7280"/>
                </a:solidFill>
              </a:rPr>
              <a:t>01</a:t>
            </a:r>
            <a:endParaRPr lang="en-US" sz="900" dirty="0"/>
          </a:p>
        </p:txBody>
      </p:sp>
      <p:sp>
        <p:nvSpPr>
          <p:cNvPr id="22" name="TextBox 21">
            <a:extLst>
              <a:ext uri="{FF2B5EF4-FFF2-40B4-BE49-F238E27FC236}">
                <a16:creationId xmlns:a16="http://schemas.microsoft.com/office/drawing/2014/main" id="{E7E7C62D-0C73-C380-9DE1-5D5BEFC60D33}"/>
              </a:ext>
            </a:extLst>
          </p:cNvPr>
          <p:cNvSpPr txBox="1"/>
          <p:nvPr/>
        </p:nvSpPr>
        <p:spPr>
          <a:xfrm>
            <a:off x="6629400" y="5658928"/>
            <a:ext cx="4800600" cy="954107"/>
          </a:xfrm>
          <a:prstGeom prst="rect">
            <a:avLst/>
          </a:prstGeom>
          <a:noFill/>
        </p:spPr>
        <p:txBody>
          <a:bodyPr wrap="square" rtlCol="0">
            <a:spAutoFit/>
          </a:bodyPr>
          <a:lstStyle/>
          <a:p>
            <a:r>
              <a:rPr lang="en-AU" sz="1400" dirty="0"/>
              <a:t>MUTHU KUMARAN CHANDRASEKAR JAYANTHI</a:t>
            </a:r>
          </a:p>
          <a:p>
            <a:r>
              <a:rPr lang="en-AU" sz="1400" dirty="0"/>
              <a:t>SHESHAN MUNUSAMY NEELAVATHI</a:t>
            </a:r>
          </a:p>
          <a:p>
            <a:r>
              <a:rPr lang="en-AU" sz="1400" dirty="0"/>
              <a:t>HEMANTH RAJAKUMAR</a:t>
            </a:r>
          </a:p>
          <a:p>
            <a:r>
              <a:rPr lang="en-AU" sz="1400" dirty="0"/>
              <a:t>JEFFERSON ROZARIO </a:t>
            </a:r>
            <a:r>
              <a:rPr lang="en-AU" sz="1400" dirty="0" err="1"/>
              <a:t>ROZARIO</a:t>
            </a:r>
            <a:r>
              <a:rPr lang="en-AU" sz="1400" dirty="0"/>
              <a:t> RAJAN</a:t>
            </a:r>
          </a:p>
        </p:txBody>
      </p:sp>
      <p:sp>
        <p:nvSpPr>
          <p:cNvPr id="23" name="TextBox 22">
            <a:extLst>
              <a:ext uri="{FF2B5EF4-FFF2-40B4-BE49-F238E27FC236}">
                <a16:creationId xmlns:a16="http://schemas.microsoft.com/office/drawing/2014/main" id="{11CA85C0-E4C7-BA72-2A66-772442CE7553}"/>
              </a:ext>
            </a:extLst>
          </p:cNvPr>
          <p:cNvSpPr txBox="1"/>
          <p:nvPr/>
        </p:nvSpPr>
        <p:spPr>
          <a:xfrm>
            <a:off x="6629400" y="5390275"/>
            <a:ext cx="3536831" cy="338554"/>
          </a:xfrm>
          <a:prstGeom prst="rect">
            <a:avLst/>
          </a:prstGeom>
          <a:noFill/>
        </p:spPr>
        <p:txBody>
          <a:bodyPr wrap="square" rtlCol="0">
            <a:spAutoFit/>
          </a:bodyPr>
          <a:lstStyle/>
          <a:p>
            <a:r>
              <a:rPr lang="en-AU" sz="1600" b="1" dirty="0"/>
              <a:t>TEAM MEMBERS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3261E"/>
          </a:solidFill>
          <a:ln w="12700">
            <a:solidFill>
              <a:srgbClr val="B3261E">
                <a:alpha val="0"/>
              </a:srgbClr>
            </a:solidFill>
            <a:prstDash val="solid"/>
          </a:ln>
        </p:spPr>
      </p:sp>
      <p:sp>
        <p:nvSpPr>
          <p:cNvPr id="3" name="Shape 1"/>
          <p:cNvSpPr/>
          <p:nvPr/>
        </p:nvSpPr>
        <p:spPr>
          <a:xfrm>
            <a:off x="0" y="6720840"/>
            <a:ext cx="12191695" cy="137160"/>
          </a:xfrm>
          <a:prstGeom prst="rect">
            <a:avLst/>
          </a:prstGeom>
          <a:solidFill>
            <a:srgbClr val="FCEBE8"/>
          </a:solidFill>
          <a:ln w="12700">
            <a:solidFill>
              <a:srgbClr val="FCEBE8">
                <a:alpha val="0"/>
              </a:srgbClr>
            </a:solidFill>
            <a:prstDash val="solid"/>
          </a:ln>
        </p:spPr>
      </p:sp>
      <p:sp>
        <p:nvSpPr>
          <p:cNvPr id="4" name="Text 2"/>
          <p:cNvSpPr/>
          <p:nvPr/>
        </p:nvSpPr>
        <p:spPr>
          <a:xfrm>
            <a:off x="548640" y="384048"/>
            <a:ext cx="2194560" cy="228600"/>
          </a:xfrm>
          <a:prstGeom prst="rect">
            <a:avLst/>
          </a:prstGeom>
          <a:noFill/>
          <a:ln/>
        </p:spPr>
        <p:txBody>
          <a:bodyPr wrap="square" rtlCol="0" anchor="ctr">
            <a:normAutofit/>
          </a:bodyPr>
          <a:lstStyle/>
          <a:p>
            <a:pPr marL="0" indent="0">
              <a:buNone/>
            </a:pPr>
            <a:r>
              <a:rPr lang="en-US" sz="800" b="1" dirty="0">
                <a:solidFill>
                  <a:srgbClr val="B3261E"/>
                </a:solidFill>
                <a:latin typeface="Aptos" pitchFamily="34" charset="0"/>
                <a:ea typeface="Aptos" pitchFamily="34" charset="-122"/>
                <a:cs typeface="Aptos" pitchFamily="34" charset="-120"/>
              </a:rPr>
              <a:t>OVERVIEW</a:t>
            </a:r>
            <a:endParaRPr lang="en-US" sz="800" dirty="0"/>
          </a:p>
        </p:txBody>
      </p:sp>
      <p:sp>
        <p:nvSpPr>
          <p:cNvPr id="5" name="Text 3"/>
          <p:cNvSpPr/>
          <p:nvPr/>
        </p:nvSpPr>
        <p:spPr>
          <a:xfrm>
            <a:off x="548640" y="667512"/>
            <a:ext cx="9784080" cy="438912"/>
          </a:xfrm>
          <a:prstGeom prst="rect">
            <a:avLst/>
          </a:prstGeom>
          <a:noFill/>
          <a:ln/>
        </p:spPr>
        <p:txBody>
          <a:bodyPr wrap="square" lIns="0" tIns="0" rIns="0" bIns="0" rtlCol="0" anchor="ctr">
            <a:normAutofit/>
          </a:bodyPr>
          <a:lstStyle/>
          <a:p>
            <a:pPr marL="0" indent="0">
              <a:buNone/>
            </a:pPr>
            <a:r>
              <a:rPr lang="en-US" sz="2500" b="1" dirty="0">
                <a:solidFill>
                  <a:srgbClr val="19324D"/>
                </a:solidFill>
                <a:latin typeface="Aptos Display" pitchFamily="34" charset="0"/>
                <a:ea typeface="Aptos Display" pitchFamily="34" charset="-122"/>
                <a:cs typeface="Aptos Display" pitchFamily="34" charset="-120"/>
              </a:rPr>
              <a:t>What the application does</a:t>
            </a:r>
            <a:endParaRPr lang="en-US" sz="2500" dirty="0"/>
          </a:p>
        </p:txBody>
      </p:sp>
      <p:sp>
        <p:nvSpPr>
          <p:cNvPr id="6" name="Shape 4"/>
          <p:cNvSpPr/>
          <p:nvPr/>
        </p:nvSpPr>
        <p:spPr>
          <a:xfrm>
            <a:off x="548640" y="1234440"/>
            <a:ext cx="11064240" cy="0"/>
          </a:xfrm>
          <a:prstGeom prst="line">
            <a:avLst/>
          </a:prstGeom>
          <a:noFill/>
          <a:ln w="12700">
            <a:solidFill>
              <a:srgbClr val="E5E7EB"/>
            </a:solidFill>
            <a:prstDash val="solid"/>
          </a:ln>
        </p:spPr>
      </p:sp>
      <p:sp>
        <p:nvSpPr>
          <p:cNvPr id="7" name="Text 5"/>
          <p:cNvSpPr/>
          <p:nvPr/>
        </p:nvSpPr>
        <p:spPr>
          <a:xfrm>
            <a:off x="640080" y="1508760"/>
            <a:ext cx="5212080" cy="1097280"/>
          </a:xfrm>
          <a:prstGeom prst="rect">
            <a:avLst/>
          </a:prstGeom>
          <a:noFill/>
          <a:ln/>
        </p:spPr>
        <p:txBody>
          <a:bodyPr wrap="square" lIns="635" tIns="635" rIns="635" bIns="635" rtlCol="0" anchor="t">
            <a:normAutofit fontScale="92500"/>
          </a:bodyPr>
          <a:lstStyle/>
          <a:p>
            <a:pPr marL="0" indent="0" algn="l">
              <a:buNone/>
            </a:pPr>
            <a:r>
              <a:rPr lang="en-US" sz="1700" dirty="0">
                <a:solidFill>
                  <a:srgbClr val="1F2937"/>
                </a:solidFill>
                <a:latin typeface="Aptos" pitchFamily="34" charset="0"/>
                <a:ea typeface="Aptos" pitchFamily="34" charset="-122"/>
                <a:cs typeface="Aptos" pitchFamily="34" charset="-120"/>
              </a:rPr>
              <a:t>The project builds a working Python news aggregator that collects current articles from a public API, enriches the results through web scraping, cleans the dataset, saves it for reuse and presents simple visual outputs for analysis.</a:t>
            </a:r>
            <a:endParaRPr lang="en-US" sz="1700" dirty="0"/>
          </a:p>
        </p:txBody>
      </p:sp>
      <p:sp>
        <p:nvSpPr>
          <p:cNvPr id="8" name="Shape 6"/>
          <p:cNvSpPr/>
          <p:nvPr/>
        </p:nvSpPr>
        <p:spPr>
          <a:xfrm>
            <a:off x="640080" y="2880360"/>
            <a:ext cx="2468880" cy="1143000"/>
          </a:xfrm>
          <a:prstGeom prst="roundRect">
            <a:avLst>
              <a:gd name="adj" fmla="val 4800"/>
            </a:avLst>
          </a:prstGeom>
          <a:solidFill>
            <a:srgbClr val="FFFFFF"/>
          </a:solidFill>
          <a:ln w="12700">
            <a:solidFill>
              <a:srgbClr val="E5E7EB"/>
            </a:solidFill>
            <a:prstDash val="solid"/>
          </a:ln>
        </p:spPr>
      </p:sp>
      <p:sp>
        <p:nvSpPr>
          <p:cNvPr id="9" name="Text 7"/>
          <p:cNvSpPr/>
          <p:nvPr/>
        </p:nvSpPr>
        <p:spPr>
          <a:xfrm>
            <a:off x="804672" y="3026664"/>
            <a:ext cx="21396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Input</a:t>
            </a:r>
            <a:endParaRPr lang="en-US" sz="1400" dirty="0"/>
          </a:p>
        </p:txBody>
      </p:sp>
      <p:sp>
        <p:nvSpPr>
          <p:cNvPr id="10" name="Text 8"/>
          <p:cNvSpPr/>
          <p:nvPr/>
        </p:nvSpPr>
        <p:spPr>
          <a:xfrm>
            <a:off x="804672" y="3410712"/>
            <a:ext cx="2139696" cy="48463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User chooses a category and article count through the GUI.</a:t>
            </a:r>
            <a:endParaRPr lang="en-US" sz="1150" dirty="0"/>
          </a:p>
        </p:txBody>
      </p:sp>
      <p:sp>
        <p:nvSpPr>
          <p:cNvPr id="11" name="Shape 9"/>
          <p:cNvSpPr/>
          <p:nvPr/>
        </p:nvSpPr>
        <p:spPr>
          <a:xfrm>
            <a:off x="3337560" y="2880360"/>
            <a:ext cx="2468880" cy="1143000"/>
          </a:xfrm>
          <a:prstGeom prst="roundRect">
            <a:avLst>
              <a:gd name="adj" fmla="val 4800"/>
            </a:avLst>
          </a:prstGeom>
          <a:solidFill>
            <a:srgbClr val="FFFFFF"/>
          </a:solidFill>
          <a:ln w="12700">
            <a:solidFill>
              <a:srgbClr val="E5E7EB"/>
            </a:solidFill>
            <a:prstDash val="solid"/>
          </a:ln>
        </p:spPr>
      </p:sp>
      <p:sp>
        <p:nvSpPr>
          <p:cNvPr id="12" name="Text 10"/>
          <p:cNvSpPr/>
          <p:nvPr/>
        </p:nvSpPr>
        <p:spPr>
          <a:xfrm>
            <a:off x="3502152" y="3026664"/>
            <a:ext cx="21396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Collection</a:t>
            </a:r>
            <a:endParaRPr lang="en-US" sz="1400" dirty="0"/>
          </a:p>
        </p:txBody>
      </p:sp>
      <p:sp>
        <p:nvSpPr>
          <p:cNvPr id="13" name="Text 11"/>
          <p:cNvSpPr/>
          <p:nvPr/>
        </p:nvSpPr>
        <p:spPr>
          <a:xfrm>
            <a:off x="3502152" y="3410712"/>
            <a:ext cx="2139696" cy="484632"/>
          </a:xfrm>
          <a:prstGeom prst="rect">
            <a:avLst/>
          </a:prstGeom>
          <a:noFill/>
          <a:ln/>
        </p:spPr>
        <p:txBody>
          <a:bodyPr wrap="square" lIns="254" tIns="254" rIns="254" bIns="254" rtlCol="0" anchor="t">
            <a:normAutofit lnSpcReduction="10000"/>
          </a:bodyPr>
          <a:lstStyle/>
          <a:p>
            <a:pPr marL="0" indent="0">
              <a:buNone/>
            </a:pPr>
            <a:r>
              <a:rPr lang="en-US" sz="1150" dirty="0">
                <a:solidFill>
                  <a:srgbClr val="1F2937"/>
                </a:solidFill>
              </a:rPr>
              <a:t>Program fetches matching articles from NewsAPI and article webpages.</a:t>
            </a:r>
            <a:endParaRPr lang="en-US" sz="1150" dirty="0"/>
          </a:p>
        </p:txBody>
      </p:sp>
      <p:sp>
        <p:nvSpPr>
          <p:cNvPr id="14" name="Shape 12"/>
          <p:cNvSpPr/>
          <p:nvPr/>
        </p:nvSpPr>
        <p:spPr>
          <a:xfrm>
            <a:off x="6035040" y="2880360"/>
            <a:ext cx="2468880" cy="1143000"/>
          </a:xfrm>
          <a:prstGeom prst="roundRect">
            <a:avLst>
              <a:gd name="adj" fmla="val 4800"/>
            </a:avLst>
          </a:prstGeom>
          <a:solidFill>
            <a:srgbClr val="FFFFFF"/>
          </a:solidFill>
          <a:ln w="12700">
            <a:solidFill>
              <a:srgbClr val="E5E7EB"/>
            </a:solidFill>
            <a:prstDash val="solid"/>
          </a:ln>
        </p:spPr>
      </p:sp>
      <p:sp>
        <p:nvSpPr>
          <p:cNvPr id="15" name="Text 13"/>
          <p:cNvSpPr/>
          <p:nvPr/>
        </p:nvSpPr>
        <p:spPr>
          <a:xfrm>
            <a:off x="6199632" y="3026664"/>
            <a:ext cx="21396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Processing</a:t>
            </a:r>
            <a:endParaRPr lang="en-US" sz="1400" dirty="0"/>
          </a:p>
        </p:txBody>
      </p:sp>
      <p:sp>
        <p:nvSpPr>
          <p:cNvPr id="16" name="Text 14"/>
          <p:cNvSpPr/>
          <p:nvPr/>
        </p:nvSpPr>
        <p:spPr>
          <a:xfrm>
            <a:off x="6199632" y="3410712"/>
            <a:ext cx="2139696" cy="48463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The data is cleaned, combined, deduplicated and exported.</a:t>
            </a:r>
            <a:endParaRPr lang="en-US" sz="1150" dirty="0"/>
          </a:p>
        </p:txBody>
      </p:sp>
      <p:sp>
        <p:nvSpPr>
          <p:cNvPr id="17" name="Shape 15"/>
          <p:cNvSpPr/>
          <p:nvPr/>
        </p:nvSpPr>
        <p:spPr>
          <a:xfrm>
            <a:off x="8732520" y="2880360"/>
            <a:ext cx="2468880" cy="1143000"/>
          </a:xfrm>
          <a:prstGeom prst="roundRect">
            <a:avLst>
              <a:gd name="adj" fmla="val 4800"/>
            </a:avLst>
          </a:prstGeom>
          <a:solidFill>
            <a:srgbClr val="FFFFFF"/>
          </a:solidFill>
          <a:ln w="12700">
            <a:solidFill>
              <a:srgbClr val="E5E7EB"/>
            </a:solidFill>
            <a:prstDash val="solid"/>
          </a:ln>
        </p:spPr>
      </p:sp>
      <p:sp>
        <p:nvSpPr>
          <p:cNvPr id="18" name="Text 16"/>
          <p:cNvSpPr/>
          <p:nvPr/>
        </p:nvSpPr>
        <p:spPr>
          <a:xfrm>
            <a:off x="8897112" y="3026664"/>
            <a:ext cx="21396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Output</a:t>
            </a:r>
            <a:endParaRPr lang="en-US" sz="1400" dirty="0"/>
          </a:p>
        </p:txBody>
      </p:sp>
      <p:sp>
        <p:nvSpPr>
          <p:cNvPr id="19" name="Text 17"/>
          <p:cNvSpPr/>
          <p:nvPr/>
        </p:nvSpPr>
        <p:spPr>
          <a:xfrm>
            <a:off x="8897112" y="3410712"/>
            <a:ext cx="2139696" cy="484632"/>
          </a:xfrm>
          <a:prstGeom prst="rect">
            <a:avLst/>
          </a:prstGeom>
          <a:noFill/>
          <a:ln/>
        </p:spPr>
        <p:txBody>
          <a:bodyPr wrap="square" lIns="254" tIns="254" rIns="254" bIns="254" rtlCol="0" anchor="t">
            <a:normAutofit lnSpcReduction="10000"/>
          </a:bodyPr>
          <a:lstStyle/>
          <a:p>
            <a:pPr marL="0" indent="0">
              <a:buNone/>
            </a:pPr>
            <a:r>
              <a:rPr lang="en-US" sz="1150" dirty="0">
                <a:solidFill>
                  <a:srgbClr val="1F2937"/>
                </a:solidFill>
              </a:rPr>
              <a:t>Charts and results help users understand article sources and author availability.</a:t>
            </a:r>
            <a:endParaRPr lang="en-US" sz="1150" dirty="0"/>
          </a:p>
        </p:txBody>
      </p:sp>
      <p:sp>
        <p:nvSpPr>
          <p:cNvPr id="20" name="Shape 18"/>
          <p:cNvSpPr/>
          <p:nvPr/>
        </p:nvSpPr>
        <p:spPr>
          <a:xfrm>
            <a:off x="640080" y="4663440"/>
            <a:ext cx="4983480" cy="914400"/>
          </a:xfrm>
          <a:prstGeom prst="roundRect">
            <a:avLst>
              <a:gd name="adj" fmla="val 6000"/>
            </a:avLst>
          </a:prstGeom>
          <a:solidFill>
            <a:srgbClr val="FCEBE8"/>
          </a:solidFill>
          <a:ln w="12700">
            <a:solidFill>
              <a:srgbClr val="E5E7EB"/>
            </a:solidFill>
            <a:prstDash val="solid"/>
          </a:ln>
        </p:spPr>
      </p:sp>
      <p:sp>
        <p:nvSpPr>
          <p:cNvPr id="21" name="Text 19"/>
          <p:cNvSpPr/>
          <p:nvPr/>
        </p:nvSpPr>
        <p:spPr>
          <a:xfrm>
            <a:off x="804672" y="4809744"/>
            <a:ext cx="46542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Assignment coverage</a:t>
            </a:r>
            <a:endParaRPr lang="en-US" sz="1400" dirty="0"/>
          </a:p>
        </p:txBody>
      </p:sp>
      <p:sp>
        <p:nvSpPr>
          <p:cNvPr id="22" name="Text 20"/>
          <p:cNvSpPr/>
          <p:nvPr/>
        </p:nvSpPr>
        <p:spPr>
          <a:xfrm>
            <a:off x="804672" y="5193792"/>
            <a:ext cx="4654296" cy="256032"/>
          </a:xfrm>
          <a:prstGeom prst="rect">
            <a:avLst/>
          </a:prstGeom>
          <a:noFill/>
          <a:ln/>
        </p:spPr>
        <p:txBody>
          <a:bodyPr wrap="square" lIns="254" tIns="254" rIns="254" bIns="254" rtlCol="0" anchor="t">
            <a:normAutofit fontScale="85000" lnSpcReduction="20000"/>
          </a:bodyPr>
          <a:lstStyle/>
          <a:p>
            <a:pPr marL="0" indent="0">
              <a:buNone/>
            </a:pPr>
            <a:r>
              <a:rPr lang="en-US" sz="1150" dirty="0">
                <a:solidFill>
                  <a:srgbClr val="1F2937"/>
                </a:solidFill>
              </a:rPr>
              <a:t>API integration, web scraping, OOP, data processing, visualisation, GUI and unit testing are demonstrated in one system.</a:t>
            </a:r>
            <a:endParaRPr lang="en-US" sz="1150" dirty="0"/>
          </a:p>
        </p:txBody>
      </p:sp>
      <p:sp>
        <p:nvSpPr>
          <p:cNvPr id="23" name="Shape 21"/>
          <p:cNvSpPr/>
          <p:nvPr/>
        </p:nvSpPr>
        <p:spPr>
          <a:xfrm>
            <a:off x="6263640" y="4663440"/>
            <a:ext cx="4983480" cy="914400"/>
          </a:xfrm>
          <a:prstGeom prst="roundRect">
            <a:avLst>
              <a:gd name="adj" fmla="val 6000"/>
            </a:avLst>
          </a:prstGeom>
          <a:solidFill>
            <a:srgbClr val="FCEBE8"/>
          </a:solidFill>
          <a:ln w="12700">
            <a:solidFill>
              <a:srgbClr val="E5E7EB"/>
            </a:solidFill>
            <a:prstDash val="solid"/>
          </a:ln>
        </p:spPr>
      </p:sp>
      <p:sp>
        <p:nvSpPr>
          <p:cNvPr id="24" name="Text 22"/>
          <p:cNvSpPr/>
          <p:nvPr/>
        </p:nvSpPr>
        <p:spPr>
          <a:xfrm>
            <a:off x="6428232" y="4809744"/>
            <a:ext cx="46542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Why it matters</a:t>
            </a:r>
            <a:endParaRPr lang="en-US" sz="1400" dirty="0"/>
          </a:p>
        </p:txBody>
      </p:sp>
      <p:sp>
        <p:nvSpPr>
          <p:cNvPr id="25" name="Text 23"/>
          <p:cNvSpPr/>
          <p:nvPr/>
        </p:nvSpPr>
        <p:spPr>
          <a:xfrm>
            <a:off x="6428232" y="5193792"/>
            <a:ext cx="4654296" cy="256032"/>
          </a:xfrm>
          <a:prstGeom prst="rect">
            <a:avLst/>
          </a:prstGeom>
          <a:noFill/>
          <a:ln/>
        </p:spPr>
        <p:txBody>
          <a:bodyPr wrap="square" lIns="254" tIns="254" rIns="254" bIns="254" rtlCol="0" anchor="t">
            <a:normAutofit fontScale="85000" lnSpcReduction="20000"/>
          </a:bodyPr>
          <a:lstStyle/>
          <a:p>
            <a:pPr marL="0" indent="0">
              <a:buNone/>
            </a:pPr>
            <a:r>
              <a:rPr lang="en-US" sz="1150" dirty="0">
                <a:solidFill>
                  <a:srgbClr val="1F2937"/>
                </a:solidFill>
              </a:rPr>
              <a:t>The application turns unstructured online news into a reusable dataset and simple insights for quick exploration.</a:t>
            </a:r>
            <a:endParaRPr lang="en-US" sz="1150" dirty="0"/>
          </a:p>
        </p:txBody>
      </p:sp>
      <p:sp>
        <p:nvSpPr>
          <p:cNvPr id="26" name="Text 24"/>
          <p:cNvSpPr/>
          <p:nvPr/>
        </p:nvSpPr>
        <p:spPr>
          <a:xfrm>
            <a:off x="11201400" y="6327648"/>
            <a:ext cx="411480" cy="228600"/>
          </a:xfrm>
          <a:prstGeom prst="rect">
            <a:avLst/>
          </a:prstGeom>
          <a:noFill/>
          <a:ln/>
        </p:spPr>
        <p:txBody>
          <a:bodyPr wrap="square" lIns="0" tIns="0" rIns="0" bIns="0" rtlCol="0" anchor="ctr"/>
          <a:lstStyle/>
          <a:p>
            <a:pPr marL="0" indent="0" algn="r">
              <a:buNone/>
            </a:pPr>
            <a:r>
              <a:rPr lang="en-US" sz="900" dirty="0">
                <a:solidFill>
                  <a:srgbClr val="6B7280"/>
                </a:solidFill>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3261E"/>
          </a:solidFill>
          <a:ln w="12700">
            <a:solidFill>
              <a:srgbClr val="B3261E">
                <a:alpha val="0"/>
              </a:srgbClr>
            </a:solidFill>
            <a:prstDash val="solid"/>
          </a:ln>
        </p:spPr>
      </p:sp>
      <p:sp>
        <p:nvSpPr>
          <p:cNvPr id="3" name="Shape 1"/>
          <p:cNvSpPr/>
          <p:nvPr/>
        </p:nvSpPr>
        <p:spPr>
          <a:xfrm>
            <a:off x="0" y="6720840"/>
            <a:ext cx="12191695" cy="137160"/>
          </a:xfrm>
          <a:prstGeom prst="rect">
            <a:avLst/>
          </a:prstGeom>
          <a:solidFill>
            <a:srgbClr val="FCEBE8"/>
          </a:solidFill>
          <a:ln w="12700">
            <a:solidFill>
              <a:srgbClr val="FCEBE8">
                <a:alpha val="0"/>
              </a:srgbClr>
            </a:solidFill>
            <a:prstDash val="solid"/>
          </a:ln>
        </p:spPr>
      </p:sp>
      <p:sp>
        <p:nvSpPr>
          <p:cNvPr id="4" name="Text 2"/>
          <p:cNvSpPr/>
          <p:nvPr/>
        </p:nvSpPr>
        <p:spPr>
          <a:xfrm>
            <a:off x="548640" y="384048"/>
            <a:ext cx="2194560" cy="228600"/>
          </a:xfrm>
          <a:prstGeom prst="rect">
            <a:avLst/>
          </a:prstGeom>
          <a:noFill/>
          <a:ln/>
        </p:spPr>
        <p:txBody>
          <a:bodyPr wrap="square" rtlCol="0" anchor="ctr">
            <a:normAutofit/>
          </a:bodyPr>
          <a:lstStyle/>
          <a:p>
            <a:pPr marL="0" indent="0">
              <a:buNone/>
            </a:pPr>
            <a:r>
              <a:rPr lang="en-US" sz="800" b="1" dirty="0">
                <a:solidFill>
                  <a:srgbClr val="B3261E"/>
                </a:solidFill>
                <a:latin typeface="Aptos" pitchFamily="34" charset="0"/>
                <a:ea typeface="Aptos" pitchFamily="34" charset="-122"/>
                <a:cs typeface="Aptos" pitchFamily="34" charset="-120"/>
              </a:rPr>
              <a:t>WORKFLOW</a:t>
            </a:r>
            <a:endParaRPr lang="en-US" sz="800" dirty="0"/>
          </a:p>
        </p:txBody>
      </p:sp>
      <p:sp>
        <p:nvSpPr>
          <p:cNvPr id="5" name="Text 3"/>
          <p:cNvSpPr/>
          <p:nvPr/>
        </p:nvSpPr>
        <p:spPr>
          <a:xfrm>
            <a:off x="548640" y="667512"/>
            <a:ext cx="9784080" cy="438912"/>
          </a:xfrm>
          <a:prstGeom prst="rect">
            <a:avLst/>
          </a:prstGeom>
          <a:noFill/>
          <a:ln/>
        </p:spPr>
        <p:txBody>
          <a:bodyPr wrap="square" lIns="0" tIns="0" rIns="0" bIns="0" rtlCol="0" anchor="ctr">
            <a:normAutofit/>
          </a:bodyPr>
          <a:lstStyle/>
          <a:p>
            <a:pPr marL="0" indent="0">
              <a:buNone/>
            </a:pPr>
            <a:r>
              <a:rPr lang="en-US" sz="2500" b="1" dirty="0">
                <a:solidFill>
                  <a:srgbClr val="19324D"/>
                </a:solidFill>
                <a:latin typeface="Aptos Display" pitchFamily="34" charset="0"/>
                <a:ea typeface="Aptos Display" pitchFamily="34" charset="-122"/>
                <a:cs typeface="Aptos Display" pitchFamily="34" charset="-120"/>
              </a:rPr>
              <a:t>End-to-end system flow</a:t>
            </a:r>
            <a:endParaRPr lang="en-US" sz="2500" dirty="0"/>
          </a:p>
        </p:txBody>
      </p:sp>
      <p:sp>
        <p:nvSpPr>
          <p:cNvPr id="6" name="Shape 4"/>
          <p:cNvSpPr/>
          <p:nvPr/>
        </p:nvSpPr>
        <p:spPr>
          <a:xfrm>
            <a:off x="548640" y="1234440"/>
            <a:ext cx="11064240" cy="0"/>
          </a:xfrm>
          <a:prstGeom prst="line">
            <a:avLst/>
          </a:prstGeom>
          <a:noFill/>
          <a:ln w="12700">
            <a:solidFill>
              <a:srgbClr val="E5E7EB"/>
            </a:solidFill>
            <a:prstDash val="solid"/>
          </a:ln>
        </p:spPr>
      </p:sp>
      <p:sp>
        <p:nvSpPr>
          <p:cNvPr id="7" name="Shape 5"/>
          <p:cNvSpPr/>
          <p:nvPr/>
        </p:nvSpPr>
        <p:spPr>
          <a:xfrm>
            <a:off x="2377440" y="2395728"/>
            <a:ext cx="256032" cy="0"/>
          </a:xfrm>
          <a:prstGeom prst="line">
            <a:avLst/>
          </a:prstGeom>
          <a:noFill/>
          <a:ln w="12700">
            <a:solidFill>
              <a:srgbClr val="B3261E"/>
            </a:solidFill>
            <a:prstDash val="solid"/>
            <a:headEnd type="none"/>
            <a:tailEnd type="triangle"/>
          </a:ln>
        </p:spPr>
      </p:sp>
      <p:sp>
        <p:nvSpPr>
          <p:cNvPr id="8" name="Shape 6"/>
          <p:cNvSpPr/>
          <p:nvPr/>
        </p:nvSpPr>
        <p:spPr>
          <a:xfrm>
            <a:off x="4279392" y="2395728"/>
            <a:ext cx="256032" cy="0"/>
          </a:xfrm>
          <a:prstGeom prst="line">
            <a:avLst/>
          </a:prstGeom>
          <a:noFill/>
          <a:ln w="12700">
            <a:solidFill>
              <a:srgbClr val="B3261E"/>
            </a:solidFill>
            <a:prstDash val="solid"/>
            <a:headEnd type="none"/>
            <a:tailEnd type="triangle"/>
          </a:ln>
        </p:spPr>
      </p:sp>
      <p:sp>
        <p:nvSpPr>
          <p:cNvPr id="9" name="Shape 7"/>
          <p:cNvSpPr/>
          <p:nvPr/>
        </p:nvSpPr>
        <p:spPr>
          <a:xfrm>
            <a:off x="6181344" y="2395728"/>
            <a:ext cx="256032" cy="0"/>
          </a:xfrm>
          <a:prstGeom prst="line">
            <a:avLst/>
          </a:prstGeom>
          <a:noFill/>
          <a:ln w="12700">
            <a:solidFill>
              <a:srgbClr val="B3261E"/>
            </a:solidFill>
            <a:prstDash val="solid"/>
            <a:headEnd type="none"/>
            <a:tailEnd type="triangle"/>
          </a:ln>
        </p:spPr>
      </p:sp>
      <p:sp>
        <p:nvSpPr>
          <p:cNvPr id="10" name="Shape 8"/>
          <p:cNvSpPr/>
          <p:nvPr/>
        </p:nvSpPr>
        <p:spPr>
          <a:xfrm>
            <a:off x="8083296" y="2395728"/>
            <a:ext cx="256032" cy="0"/>
          </a:xfrm>
          <a:prstGeom prst="line">
            <a:avLst/>
          </a:prstGeom>
          <a:noFill/>
          <a:ln w="12700">
            <a:solidFill>
              <a:srgbClr val="B3261E"/>
            </a:solidFill>
            <a:prstDash val="solid"/>
            <a:headEnd type="none"/>
            <a:tailEnd type="triangle"/>
          </a:ln>
        </p:spPr>
      </p:sp>
      <p:sp>
        <p:nvSpPr>
          <p:cNvPr id="11" name="Shape 9"/>
          <p:cNvSpPr/>
          <p:nvPr/>
        </p:nvSpPr>
        <p:spPr>
          <a:xfrm>
            <a:off x="9985248" y="2395728"/>
            <a:ext cx="256032" cy="0"/>
          </a:xfrm>
          <a:prstGeom prst="line">
            <a:avLst/>
          </a:prstGeom>
          <a:noFill/>
          <a:ln w="12700">
            <a:solidFill>
              <a:srgbClr val="B3261E"/>
            </a:solidFill>
            <a:prstDash val="solid"/>
            <a:headEnd type="none"/>
            <a:tailEnd type="triangle"/>
          </a:ln>
        </p:spPr>
      </p:sp>
      <p:sp>
        <p:nvSpPr>
          <p:cNvPr id="12" name="Shape 10"/>
          <p:cNvSpPr/>
          <p:nvPr/>
        </p:nvSpPr>
        <p:spPr>
          <a:xfrm>
            <a:off x="731520" y="1920240"/>
            <a:ext cx="1645920" cy="960120"/>
          </a:xfrm>
          <a:prstGeom prst="roundRect">
            <a:avLst>
              <a:gd name="adj" fmla="val 7619"/>
            </a:avLst>
          </a:prstGeom>
          <a:solidFill>
            <a:srgbClr val="FFFFFF"/>
          </a:solidFill>
          <a:ln w="12700">
            <a:solidFill>
              <a:srgbClr val="F0C5C0"/>
            </a:solidFill>
            <a:prstDash val="solid"/>
          </a:ln>
        </p:spPr>
      </p:sp>
      <p:sp>
        <p:nvSpPr>
          <p:cNvPr id="13" name="Text 11"/>
          <p:cNvSpPr/>
          <p:nvPr/>
        </p:nvSpPr>
        <p:spPr>
          <a:xfrm>
            <a:off x="841248" y="2057400"/>
            <a:ext cx="292608" cy="274320"/>
          </a:xfrm>
          <a:prstGeom prst="rect">
            <a:avLst/>
          </a:prstGeom>
          <a:solidFill>
            <a:srgbClr val="B3261E"/>
          </a:solid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4" name="Text 12"/>
          <p:cNvSpPr/>
          <p:nvPr/>
        </p:nvSpPr>
        <p:spPr>
          <a:xfrm>
            <a:off x="1207008" y="2057400"/>
            <a:ext cx="1078992" cy="219456"/>
          </a:xfrm>
          <a:prstGeom prst="rect">
            <a:avLst/>
          </a:prstGeom>
          <a:noFill/>
          <a:ln/>
        </p:spPr>
        <p:txBody>
          <a:bodyPr wrap="square" lIns="0" tIns="0" rIns="0" bIns="0" rtlCol="0" anchor="ctr">
            <a:normAutofit/>
          </a:bodyPr>
          <a:lstStyle/>
          <a:p>
            <a:pPr marL="0" indent="0">
              <a:buNone/>
            </a:pPr>
            <a:r>
              <a:rPr lang="en-US" sz="1250" b="1" dirty="0">
                <a:solidFill>
                  <a:srgbClr val="19324D"/>
                </a:solidFill>
              </a:rPr>
              <a:t>User input</a:t>
            </a:r>
            <a:endParaRPr lang="en-US" sz="1250" dirty="0"/>
          </a:p>
        </p:txBody>
      </p:sp>
      <p:sp>
        <p:nvSpPr>
          <p:cNvPr id="15" name="Text 13"/>
          <p:cNvSpPr/>
          <p:nvPr/>
        </p:nvSpPr>
        <p:spPr>
          <a:xfrm>
            <a:off x="896112" y="2395728"/>
            <a:ext cx="1316736" cy="292608"/>
          </a:xfrm>
          <a:prstGeom prst="rect">
            <a:avLst/>
          </a:prstGeom>
          <a:noFill/>
          <a:ln/>
        </p:spPr>
        <p:txBody>
          <a:bodyPr wrap="square" lIns="0" tIns="0" rIns="0" bIns="0" rtlCol="0" anchor="ctr">
            <a:normAutofit/>
          </a:bodyPr>
          <a:lstStyle/>
          <a:p>
            <a:pPr marL="0" indent="0">
              <a:buNone/>
            </a:pPr>
            <a:r>
              <a:rPr lang="en-US" sz="950" dirty="0">
                <a:solidFill>
                  <a:srgbClr val="6B7280"/>
                </a:solidFill>
              </a:rPr>
              <a:t>Category and number of articles</a:t>
            </a:r>
            <a:endParaRPr lang="en-US" sz="950" dirty="0"/>
          </a:p>
        </p:txBody>
      </p:sp>
      <p:sp>
        <p:nvSpPr>
          <p:cNvPr id="16" name="Shape 14"/>
          <p:cNvSpPr/>
          <p:nvPr/>
        </p:nvSpPr>
        <p:spPr>
          <a:xfrm>
            <a:off x="2633472" y="1920240"/>
            <a:ext cx="1645920" cy="960120"/>
          </a:xfrm>
          <a:prstGeom prst="roundRect">
            <a:avLst>
              <a:gd name="adj" fmla="val 7619"/>
            </a:avLst>
          </a:prstGeom>
          <a:solidFill>
            <a:srgbClr val="FFFFFF"/>
          </a:solidFill>
          <a:ln w="12700">
            <a:solidFill>
              <a:srgbClr val="F0C5C0"/>
            </a:solidFill>
            <a:prstDash val="solid"/>
          </a:ln>
        </p:spPr>
      </p:sp>
      <p:sp>
        <p:nvSpPr>
          <p:cNvPr id="17" name="Text 15"/>
          <p:cNvSpPr/>
          <p:nvPr/>
        </p:nvSpPr>
        <p:spPr>
          <a:xfrm>
            <a:off x="2743200" y="2057400"/>
            <a:ext cx="292608" cy="274320"/>
          </a:xfrm>
          <a:prstGeom prst="rect">
            <a:avLst/>
          </a:prstGeom>
          <a:solidFill>
            <a:srgbClr val="B3261E"/>
          </a:solid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8" name="Text 16"/>
          <p:cNvSpPr/>
          <p:nvPr/>
        </p:nvSpPr>
        <p:spPr>
          <a:xfrm>
            <a:off x="3108960" y="2057400"/>
            <a:ext cx="1078992" cy="219456"/>
          </a:xfrm>
          <a:prstGeom prst="rect">
            <a:avLst/>
          </a:prstGeom>
          <a:noFill/>
          <a:ln/>
        </p:spPr>
        <p:txBody>
          <a:bodyPr wrap="square" lIns="0" tIns="0" rIns="0" bIns="0" rtlCol="0" anchor="ctr">
            <a:normAutofit/>
          </a:bodyPr>
          <a:lstStyle/>
          <a:p>
            <a:pPr marL="0" indent="0">
              <a:buNone/>
            </a:pPr>
            <a:r>
              <a:rPr lang="en-US" sz="1250" b="1" dirty="0">
                <a:solidFill>
                  <a:srgbClr val="19324D"/>
                </a:solidFill>
              </a:rPr>
              <a:t>News API</a:t>
            </a:r>
            <a:endParaRPr lang="en-US" sz="1250" dirty="0"/>
          </a:p>
        </p:txBody>
      </p:sp>
      <p:sp>
        <p:nvSpPr>
          <p:cNvPr id="19" name="Text 17"/>
          <p:cNvSpPr/>
          <p:nvPr/>
        </p:nvSpPr>
        <p:spPr>
          <a:xfrm>
            <a:off x="2798064" y="2395728"/>
            <a:ext cx="1316736" cy="292608"/>
          </a:xfrm>
          <a:prstGeom prst="rect">
            <a:avLst/>
          </a:prstGeom>
          <a:noFill/>
          <a:ln/>
        </p:spPr>
        <p:txBody>
          <a:bodyPr wrap="square" lIns="0" tIns="0" rIns="0" bIns="0" rtlCol="0" anchor="ctr">
            <a:normAutofit/>
          </a:bodyPr>
          <a:lstStyle/>
          <a:p>
            <a:pPr marL="0" indent="0">
              <a:buNone/>
            </a:pPr>
            <a:r>
              <a:rPr lang="en-US" sz="950" dirty="0">
                <a:solidFill>
                  <a:srgbClr val="6B7280"/>
                </a:solidFill>
              </a:rPr>
              <a:t>Fetch current headlines</a:t>
            </a:r>
            <a:endParaRPr lang="en-US" sz="950" dirty="0"/>
          </a:p>
        </p:txBody>
      </p:sp>
      <p:sp>
        <p:nvSpPr>
          <p:cNvPr id="20" name="Shape 18"/>
          <p:cNvSpPr/>
          <p:nvPr/>
        </p:nvSpPr>
        <p:spPr>
          <a:xfrm>
            <a:off x="4535424" y="1920240"/>
            <a:ext cx="1645920" cy="960120"/>
          </a:xfrm>
          <a:prstGeom prst="roundRect">
            <a:avLst>
              <a:gd name="adj" fmla="val 7619"/>
            </a:avLst>
          </a:prstGeom>
          <a:solidFill>
            <a:srgbClr val="FFFFFF"/>
          </a:solidFill>
          <a:ln w="12700">
            <a:solidFill>
              <a:srgbClr val="F0C5C0"/>
            </a:solidFill>
            <a:prstDash val="solid"/>
          </a:ln>
        </p:spPr>
      </p:sp>
      <p:sp>
        <p:nvSpPr>
          <p:cNvPr id="21" name="Text 19"/>
          <p:cNvSpPr/>
          <p:nvPr/>
        </p:nvSpPr>
        <p:spPr>
          <a:xfrm>
            <a:off x="4645152" y="2057400"/>
            <a:ext cx="292608" cy="274320"/>
          </a:xfrm>
          <a:prstGeom prst="rect">
            <a:avLst/>
          </a:prstGeom>
          <a:solidFill>
            <a:srgbClr val="B3261E"/>
          </a:solid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2" name="Text 20"/>
          <p:cNvSpPr/>
          <p:nvPr/>
        </p:nvSpPr>
        <p:spPr>
          <a:xfrm>
            <a:off x="5010912" y="2057400"/>
            <a:ext cx="1078992" cy="219456"/>
          </a:xfrm>
          <a:prstGeom prst="rect">
            <a:avLst/>
          </a:prstGeom>
          <a:noFill/>
          <a:ln/>
        </p:spPr>
        <p:txBody>
          <a:bodyPr wrap="square" lIns="0" tIns="0" rIns="0" bIns="0" rtlCol="0" anchor="ctr">
            <a:normAutofit/>
          </a:bodyPr>
          <a:lstStyle/>
          <a:p>
            <a:pPr marL="0" indent="0">
              <a:buNone/>
            </a:pPr>
            <a:r>
              <a:rPr lang="en-US" sz="1250" b="1" dirty="0">
                <a:solidFill>
                  <a:srgbClr val="19324D"/>
                </a:solidFill>
              </a:rPr>
              <a:t>Scraper</a:t>
            </a:r>
            <a:endParaRPr lang="en-US" sz="1250" dirty="0"/>
          </a:p>
        </p:txBody>
      </p:sp>
      <p:sp>
        <p:nvSpPr>
          <p:cNvPr id="23" name="Text 21"/>
          <p:cNvSpPr/>
          <p:nvPr/>
        </p:nvSpPr>
        <p:spPr>
          <a:xfrm>
            <a:off x="4700016" y="2395728"/>
            <a:ext cx="1316736" cy="292608"/>
          </a:xfrm>
          <a:prstGeom prst="rect">
            <a:avLst/>
          </a:prstGeom>
          <a:noFill/>
          <a:ln/>
        </p:spPr>
        <p:txBody>
          <a:bodyPr wrap="square" lIns="0" tIns="0" rIns="0" bIns="0" rtlCol="0" anchor="ctr">
            <a:normAutofit/>
          </a:bodyPr>
          <a:lstStyle/>
          <a:p>
            <a:pPr marL="0" indent="0">
              <a:buNone/>
            </a:pPr>
            <a:r>
              <a:rPr lang="en-US" sz="950" dirty="0">
                <a:solidFill>
                  <a:srgbClr val="6B7280"/>
                </a:solidFill>
              </a:rPr>
              <a:t>Extract extra webpage content</a:t>
            </a:r>
            <a:endParaRPr lang="en-US" sz="950" dirty="0"/>
          </a:p>
        </p:txBody>
      </p:sp>
      <p:sp>
        <p:nvSpPr>
          <p:cNvPr id="24" name="Shape 22"/>
          <p:cNvSpPr/>
          <p:nvPr/>
        </p:nvSpPr>
        <p:spPr>
          <a:xfrm>
            <a:off x="6437376" y="1920240"/>
            <a:ext cx="1645920" cy="960120"/>
          </a:xfrm>
          <a:prstGeom prst="roundRect">
            <a:avLst>
              <a:gd name="adj" fmla="val 7619"/>
            </a:avLst>
          </a:prstGeom>
          <a:solidFill>
            <a:srgbClr val="FFFFFF"/>
          </a:solidFill>
          <a:ln w="12700">
            <a:solidFill>
              <a:srgbClr val="F0C5C0"/>
            </a:solidFill>
            <a:prstDash val="solid"/>
          </a:ln>
        </p:spPr>
      </p:sp>
      <p:sp>
        <p:nvSpPr>
          <p:cNvPr id="25" name="Text 23"/>
          <p:cNvSpPr/>
          <p:nvPr/>
        </p:nvSpPr>
        <p:spPr>
          <a:xfrm>
            <a:off x="6547104" y="2057400"/>
            <a:ext cx="292608" cy="274320"/>
          </a:xfrm>
          <a:prstGeom prst="rect">
            <a:avLst/>
          </a:prstGeom>
          <a:solidFill>
            <a:srgbClr val="B3261E"/>
          </a:solid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6" name="Text 24"/>
          <p:cNvSpPr/>
          <p:nvPr/>
        </p:nvSpPr>
        <p:spPr>
          <a:xfrm>
            <a:off x="6912864" y="2057400"/>
            <a:ext cx="1078992" cy="219456"/>
          </a:xfrm>
          <a:prstGeom prst="rect">
            <a:avLst/>
          </a:prstGeom>
          <a:noFill/>
          <a:ln/>
        </p:spPr>
        <p:txBody>
          <a:bodyPr wrap="square" lIns="0" tIns="0" rIns="0" bIns="0" rtlCol="0" anchor="ctr">
            <a:normAutofit/>
          </a:bodyPr>
          <a:lstStyle/>
          <a:p>
            <a:pPr marL="0" indent="0">
              <a:buNone/>
            </a:pPr>
            <a:r>
              <a:rPr lang="en-US" sz="1250" b="1" dirty="0">
                <a:solidFill>
                  <a:srgbClr val="19324D"/>
                </a:solidFill>
              </a:rPr>
              <a:t>Processor</a:t>
            </a:r>
            <a:endParaRPr lang="en-US" sz="1250" dirty="0"/>
          </a:p>
        </p:txBody>
      </p:sp>
      <p:sp>
        <p:nvSpPr>
          <p:cNvPr id="27" name="Text 25"/>
          <p:cNvSpPr/>
          <p:nvPr/>
        </p:nvSpPr>
        <p:spPr>
          <a:xfrm>
            <a:off x="6601968" y="2395728"/>
            <a:ext cx="1316736" cy="292608"/>
          </a:xfrm>
          <a:prstGeom prst="rect">
            <a:avLst/>
          </a:prstGeom>
          <a:noFill/>
          <a:ln/>
        </p:spPr>
        <p:txBody>
          <a:bodyPr wrap="square" lIns="0" tIns="0" rIns="0" bIns="0" rtlCol="0" anchor="ctr">
            <a:normAutofit/>
          </a:bodyPr>
          <a:lstStyle/>
          <a:p>
            <a:pPr marL="0" indent="0">
              <a:buNone/>
            </a:pPr>
            <a:r>
              <a:rPr lang="en-US" sz="950" dirty="0">
                <a:solidFill>
                  <a:srgbClr val="6B7280"/>
                </a:solidFill>
              </a:rPr>
              <a:t>Clean, merge and remove duplicates</a:t>
            </a:r>
            <a:endParaRPr lang="en-US" sz="950" dirty="0"/>
          </a:p>
        </p:txBody>
      </p:sp>
      <p:sp>
        <p:nvSpPr>
          <p:cNvPr id="28" name="Shape 26"/>
          <p:cNvSpPr/>
          <p:nvPr/>
        </p:nvSpPr>
        <p:spPr>
          <a:xfrm>
            <a:off x="8339328" y="1920240"/>
            <a:ext cx="1645920" cy="960120"/>
          </a:xfrm>
          <a:prstGeom prst="roundRect">
            <a:avLst>
              <a:gd name="adj" fmla="val 7619"/>
            </a:avLst>
          </a:prstGeom>
          <a:solidFill>
            <a:srgbClr val="FFFFFF"/>
          </a:solidFill>
          <a:ln w="12700">
            <a:solidFill>
              <a:srgbClr val="F0C5C0"/>
            </a:solidFill>
            <a:prstDash val="solid"/>
          </a:ln>
        </p:spPr>
      </p:sp>
      <p:sp>
        <p:nvSpPr>
          <p:cNvPr id="29" name="Text 27"/>
          <p:cNvSpPr/>
          <p:nvPr/>
        </p:nvSpPr>
        <p:spPr>
          <a:xfrm>
            <a:off x="8449056" y="2057400"/>
            <a:ext cx="292608" cy="274320"/>
          </a:xfrm>
          <a:prstGeom prst="rect">
            <a:avLst/>
          </a:prstGeom>
          <a:solidFill>
            <a:srgbClr val="B3261E"/>
          </a:solid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30" name="Text 28"/>
          <p:cNvSpPr/>
          <p:nvPr/>
        </p:nvSpPr>
        <p:spPr>
          <a:xfrm>
            <a:off x="8814816" y="2057400"/>
            <a:ext cx="1078992" cy="219456"/>
          </a:xfrm>
          <a:prstGeom prst="rect">
            <a:avLst/>
          </a:prstGeom>
          <a:noFill/>
          <a:ln/>
        </p:spPr>
        <p:txBody>
          <a:bodyPr wrap="square" lIns="0" tIns="0" rIns="0" bIns="0" rtlCol="0" anchor="ctr">
            <a:normAutofit/>
          </a:bodyPr>
          <a:lstStyle/>
          <a:p>
            <a:pPr marL="0" indent="0">
              <a:buNone/>
            </a:pPr>
            <a:r>
              <a:rPr lang="en-US" sz="1250" b="1" dirty="0">
                <a:solidFill>
                  <a:srgbClr val="19324D"/>
                </a:solidFill>
              </a:rPr>
              <a:t>Visualiser</a:t>
            </a:r>
            <a:endParaRPr lang="en-US" sz="1250" dirty="0"/>
          </a:p>
        </p:txBody>
      </p:sp>
      <p:sp>
        <p:nvSpPr>
          <p:cNvPr id="31" name="Text 29"/>
          <p:cNvSpPr/>
          <p:nvPr/>
        </p:nvSpPr>
        <p:spPr>
          <a:xfrm>
            <a:off x="8503920" y="2395728"/>
            <a:ext cx="1316736" cy="292608"/>
          </a:xfrm>
          <a:prstGeom prst="rect">
            <a:avLst/>
          </a:prstGeom>
          <a:noFill/>
          <a:ln/>
        </p:spPr>
        <p:txBody>
          <a:bodyPr wrap="square" lIns="0" tIns="0" rIns="0" bIns="0" rtlCol="0" anchor="ctr">
            <a:normAutofit/>
          </a:bodyPr>
          <a:lstStyle/>
          <a:p>
            <a:pPr marL="0" indent="0">
              <a:buNone/>
            </a:pPr>
            <a:r>
              <a:rPr lang="en-US" sz="950" dirty="0">
                <a:solidFill>
                  <a:srgbClr val="6B7280"/>
                </a:solidFill>
              </a:rPr>
              <a:t>Generate source and author charts</a:t>
            </a:r>
            <a:endParaRPr lang="en-US" sz="950" dirty="0"/>
          </a:p>
        </p:txBody>
      </p:sp>
      <p:sp>
        <p:nvSpPr>
          <p:cNvPr id="32" name="Shape 30"/>
          <p:cNvSpPr/>
          <p:nvPr/>
        </p:nvSpPr>
        <p:spPr>
          <a:xfrm>
            <a:off x="10241280" y="1920240"/>
            <a:ext cx="1645920" cy="960120"/>
          </a:xfrm>
          <a:prstGeom prst="roundRect">
            <a:avLst>
              <a:gd name="adj" fmla="val 7619"/>
            </a:avLst>
          </a:prstGeom>
          <a:solidFill>
            <a:srgbClr val="FFFFFF"/>
          </a:solidFill>
          <a:ln w="12700">
            <a:solidFill>
              <a:srgbClr val="F0C5C0"/>
            </a:solidFill>
            <a:prstDash val="solid"/>
          </a:ln>
        </p:spPr>
      </p:sp>
      <p:sp>
        <p:nvSpPr>
          <p:cNvPr id="33" name="Text 31"/>
          <p:cNvSpPr/>
          <p:nvPr/>
        </p:nvSpPr>
        <p:spPr>
          <a:xfrm>
            <a:off x="10351008" y="2057400"/>
            <a:ext cx="292608" cy="274320"/>
          </a:xfrm>
          <a:prstGeom prst="rect">
            <a:avLst/>
          </a:prstGeom>
          <a:solidFill>
            <a:srgbClr val="B3261E"/>
          </a:solid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34" name="Text 32"/>
          <p:cNvSpPr/>
          <p:nvPr/>
        </p:nvSpPr>
        <p:spPr>
          <a:xfrm>
            <a:off x="10716768" y="2057400"/>
            <a:ext cx="1078992" cy="219456"/>
          </a:xfrm>
          <a:prstGeom prst="rect">
            <a:avLst/>
          </a:prstGeom>
          <a:noFill/>
          <a:ln/>
        </p:spPr>
        <p:txBody>
          <a:bodyPr wrap="square" lIns="0" tIns="0" rIns="0" bIns="0" rtlCol="0" anchor="ctr">
            <a:normAutofit/>
          </a:bodyPr>
          <a:lstStyle/>
          <a:p>
            <a:pPr marL="0" indent="0">
              <a:buNone/>
            </a:pPr>
            <a:r>
              <a:rPr lang="en-US" sz="1250" b="1" dirty="0">
                <a:solidFill>
                  <a:srgbClr val="19324D"/>
                </a:solidFill>
              </a:rPr>
              <a:t>GUI / CSV</a:t>
            </a:r>
            <a:endParaRPr lang="en-US" sz="1250" dirty="0"/>
          </a:p>
        </p:txBody>
      </p:sp>
      <p:sp>
        <p:nvSpPr>
          <p:cNvPr id="35" name="Text 33"/>
          <p:cNvSpPr/>
          <p:nvPr/>
        </p:nvSpPr>
        <p:spPr>
          <a:xfrm>
            <a:off x="10405872" y="2395728"/>
            <a:ext cx="1316736" cy="292608"/>
          </a:xfrm>
          <a:prstGeom prst="rect">
            <a:avLst/>
          </a:prstGeom>
          <a:noFill/>
          <a:ln/>
        </p:spPr>
        <p:txBody>
          <a:bodyPr wrap="square" lIns="0" tIns="0" rIns="0" bIns="0" rtlCol="0" anchor="ctr">
            <a:normAutofit/>
          </a:bodyPr>
          <a:lstStyle/>
          <a:p>
            <a:pPr marL="0" indent="0">
              <a:buNone/>
            </a:pPr>
            <a:r>
              <a:rPr lang="en-US" sz="950" dirty="0">
                <a:solidFill>
                  <a:srgbClr val="6B7280"/>
                </a:solidFill>
              </a:rPr>
              <a:t>Show results and save dataset</a:t>
            </a:r>
            <a:endParaRPr lang="en-US" sz="950" dirty="0"/>
          </a:p>
        </p:txBody>
      </p:sp>
      <p:sp>
        <p:nvSpPr>
          <p:cNvPr id="36" name="Shape 34"/>
          <p:cNvSpPr/>
          <p:nvPr/>
        </p:nvSpPr>
        <p:spPr>
          <a:xfrm>
            <a:off x="1005840" y="3840480"/>
            <a:ext cx="2926080" cy="1097280"/>
          </a:xfrm>
          <a:prstGeom prst="roundRect">
            <a:avLst>
              <a:gd name="adj" fmla="val 5000"/>
            </a:avLst>
          </a:prstGeom>
          <a:solidFill>
            <a:srgbClr val="FFFFFF"/>
          </a:solidFill>
          <a:ln w="12700">
            <a:solidFill>
              <a:srgbClr val="E5E7EB"/>
            </a:solidFill>
            <a:prstDash val="solid"/>
          </a:ln>
        </p:spPr>
      </p:sp>
      <p:sp>
        <p:nvSpPr>
          <p:cNvPr id="37" name="Text 35"/>
          <p:cNvSpPr/>
          <p:nvPr/>
        </p:nvSpPr>
        <p:spPr>
          <a:xfrm>
            <a:off x="1170432" y="3986784"/>
            <a:ext cx="25968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Reliable by design</a:t>
            </a:r>
            <a:endParaRPr lang="en-US" sz="1400" dirty="0"/>
          </a:p>
        </p:txBody>
      </p:sp>
      <p:sp>
        <p:nvSpPr>
          <p:cNvPr id="38" name="Text 36"/>
          <p:cNvSpPr/>
          <p:nvPr/>
        </p:nvSpPr>
        <p:spPr>
          <a:xfrm>
            <a:off x="1170432" y="4370832"/>
            <a:ext cx="2596896" cy="438912"/>
          </a:xfrm>
          <a:prstGeom prst="rect">
            <a:avLst/>
          </a:prstGeom>
          <a:noFill/>
          <a:ln/>
        </p:spPr>
        <p:txBody>
          <a:bodyPr wrap="square" lIns="254" tIns="254" rIns="254" bIns="254" rtlCol="0" anchor="t">
            <a:normAutofit fontScale="92500" lnSpcReduction="20000"/>
          </a:bodyPr>
          <a:lstStyle/>
          <a:p>
            <a:pPr marL="0" indent="0">
              <a:buNone/>
            </a:pPr>
            <a:r>
              <a:rPr lang="en-US" sz="1150" dirty="0">
                <a:solidFill>
                  <a:srgbClr val="1F2937"/>
                </a:solidFill>
              </a:rPr>
              <a:t>Exception handling ensures one failed webpage does not stop the complete aggregation process.</a:t>
            </a:r>
            <a:endParaRPr lang="en-US" sz="1150" dirty="0"/>
          </a:p>
        </p:txBody>
      </p:sp>
      <p:sp>
        <p:nvSpPr>
          <p:cNvPr id="39" name="Shape 37"/>
          <p:cNvSpPr/>
          <p:nvPr/>
        </p:nvSpPr>
        <p:spPr>
          <a:xfrm>
            <a:off x="4617720" y="3840480"/>
            <a:ext cx="2926080" cy="1097280"/>
          </a:xfrm>
          <a:prstGeom prst="roundRect">
            <a:avLst>
              <a:gd name="adj" fmla="val 5000"/>
            </a:avLst>
          </a:prstGeom>
          <a:solidFill>
            <a:srgbClr val="FFFFFF"/>
          </a:solidFill>
          <a:ln w="12700">
            <a:solidFill>
              <a:srgbClr val="E5E7EB"/>
            </a:solidFill>
            <a:prstDash val="solid"/>
          </a:ln>
        </p:spPr>
      </p:sp>
      <p:sp>
        <p:nvSpPr>
          <p:cNvPr id="40" name="Text 38"/>
          <p:cNvSpPr/>
          <p:nvPr/>
        </p:nvSpPr>
        <p:spPr>
          <a:xfrm>
            <a:off x="4782312" y="3986784"/>
            <a:ext cx="25968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Reusable outputs</a:t>
            </a:r>
            <a:endParaRPr lang="en-US" sz="1400" dirty="0"/>
          </a:p>
        </p:txBody>
      </p:sp>
      <p:sp>
        <p:nvSpPr>
          <p:cNvPr id="41" name="Text 39"/>
          <p:cNvSpPr/>
          <p:nvPr/>
        </p:nvSpPr>
        <p:spPr>
          <a:xfrm>
            <a:off x="4782312" y="4370832"/>
            <a:ext cx="2596896" cy="438912"/>
          </a:xfrm>
          <a:prstGeom prst="rect">
            <a:avLst/>
          </a:prstGeom>
          <a:noFill/>
          <a:ln/>
        </p:spPr>
        <p:txBody>
          <a:bodyPr wrap="square" lIns="254" tIns="254" rIns="254" bIns="254" rtlCol="0" anchor="t">
            <a:normAutofit fontScale="92500"/>
          </a:bodyPr>
          <a:lstStyle/>
          <a:p>
            <a:pPr marL="0" indent="0">
              <a:buNone/>
            </a:pPr>
            <a:r>
              <a:rPr lang="en-US" sz="1150" dirty="0">
                <a:solidFill>
                  <a:srgbClr val="1F2937"/>
                </a:solidFill>
              </a:rPr>
              <a:t>The final cleaned dataset is exported to CSV so it can be reviewed or reused later.</a:t>
            </a:r>
            <a:endParaRPr lang="en-US" sz="1150" dirty="0"/>
          </a:p>
        </p:txBody>
      </p:sp>
      <p:sp>
        <p:nvSpPr>
          <p:cNvPr id="42" name="Shape 40"/>
          <p:cNvSpPr/>
          <p:nvPr/>
        </p:nvSpPr>
        <p:spPr>
          <a:xfrm>
            <a:off x="8229600" y="3840480"/>
            <a:ext cx="2926080" cy="1097280"/>
          </a:xfrm>
          <a:prstGeom prst="roundRect">
            <a:avLst>
              <a:gd name="adj" fmla="val 5000"/>
            </a:avLst>
          </a:prstGeom>
          <a:solidFill>
            <a:srgbClr val="FFFFFF"/>
          </a:solidFill>
          <a:ln w="12700">
            <a:solidFill>
              <a:srgbClr val="E5E7EB"/>
            </a:solidFill>
            <a:prstDash val="solid"/>
          </a:ln>
        </p:spPr>
      </p:sp>
      <p:sp>
        <p:nvSpPr>
          <p:cNvPr id="43" name="Text 41"/>
          <p:cNvSpPr/>
          <p:nvPr/>
        </p:nvSpPr>
        <p:spPr>
          <a:xfrm>
            <a:off x="8394192" y="3986784"/>
            <a:ext cx="25968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Modular system</a:t>
            </a:r>
            <a:endParaRPr lang="en-US" sz="1400" dirty="0"/>
          </a:p>
        </p:txBody>
      </p:sp>
      <p:sp>
        <p:nvSpPr>
          <p:cNvPr id="44" name="Text 42"/>
          <p:cNvSpPr/>
          <p:nvPr/>
        </p:nvSpPr>
        <p:spPr>
          <a:xfrm>
            <a:off x="8394192" y="4370832"/>
            <a:ext cx="2596896" cy="438912"/>
          </a:xfrm>
          <a:prstGeom prst="rect">
            <a:avLst/>
          </a:prstGeom>
          <a:noFill/>
          <a:ln/>
        </p:spPr>
        <p:txBody>
          <a:bodyPr wrap="square" lIns="254" tIns="254" rIns="254" bIns="254" rtlCol="0" anchor="t">
            <a:normAutofit fontScale="92500"/>
          </a:bodyPr>
          <a:lstStyle/>
          <a:p>
            <a:pPr marL="0" indent="0">
              <a:buNone/>
            </a:pPr>
            <a:r>
              <a:rPr lang="en-US" sz="1150" dirty="0">
                <a:solidFill>
                  <a:srgbClr val="1F2937"/>
                </a:solidFill>
              </a:rPr>
              <a:t>Each stage is separated into classes, making the code easier to test and extend.</a:t>
            </a:r>
            <a:endParaRPr lang="en-US" sz="1150" dirty="0"/>
          </a:p>
        </p:txBody>
      </p:sp>
      <p:sp>
        <p:nvSpPr>
          <p:cNvPr id="45" name="Text 43"/>
          <p:cNvSpPr/>
          <p:nvPr/>
        </p:nvSpPr>
        <p:spPr>
          <a:xfrm>
            <a:off x="11201400" y="6327648"/>
            <a:ext cx="411480" cy="228600"/>
          </a:xfrm>
          <a:prstGeom prst="rect">
            <a:avLst/>
          </a:prstGeom>
          <a:noFill/>
          <a:ln/>
        </p:spPr>
        <p:txBody>
          <a:bodyPr wrap="square" lIns="0" tIns="0" rIns="0" bIns="0" rtlCol="0" anchor="ctr"/>
          <a:lstStyle/>
          <a:p>
            <a:pPr marL="0" indent="0" algn="r">
              <a:buNone/>
            </a:pPr>
            <a:r>
              <a:rPr lang="en-US" sz="900" dirty="0">
                <a:solidFill>
                  <a:srgbClr val="6B7280"/>
                </a:solidFill>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3261E"/>
          </a:solidFill>
          <a:ln w="12700">
            <a:solidFill>
              <a:srgbClr val="B3261E">
                <a:alpha val="0"/>
              </a:srgbClr>
            </a:solidFill>
            <a:prstDash val="solid"/>
          </a:ln>
        </p:spPr>
      </p:sp>
      <p:sp>
        <p:nvSpPr>
          <p:cNvPr id="3" name="Shape 1"/>
          <p:cNvSpPr/>
          <p:nvPr/>
        </p:nvSpPr>
        <p:spPr>
          <a:xfrm>
            <a:off x="0" y="6720840"/>
            <a:ext cx="12191695" cy="137160"/>
          </a:xfrm>
          <a:prstGeom prst="rect">
            <a:avLst/>
          </a:prstGeom>
          <a:solidFill>
            <a:srgbClr val="FCEBE8"/>
          </a:solidFill>
          <a:ln w="12700">
            <a:solidFill>
              <a:srgbClr val="FCEBE8">
                <a:alpha val="0"/>
              </a:srgbClr>
            </a:solidFill>
            <a:prstDash val="solid"/>
          </a:ln>
        </p:spPr>
      </p:sp>
      <p:sp>
        <p:nvSpPr>
          <p:cNvPr id="4" name="Text 2"/>
          <p:cNvSpPr/>
          <p:nvPr/>
        </p:nvSpPr>
        <p:spPr>
          <a:xfrm>
            <a:off x="548640" y="384048"/>
            <a:ext cx="2194560" cy="228600"/>
          </a:xfrm>
          <a:prstGeom prst="rect">
            <a:avLst/>
          </a:prstGeom>
          <a:noFill/>
          <a:ln/>
        </p:spPr>
        <p:txBody>
          <a:bodyPr wrap="square" rtlCol="0" anchor="ctr">
            <a:normAutofit/>
          </a:bodyPr>
          <a:lstStyle/>
          <a:p>
            <a:pPr marL="0" indent="0">
              <a:buNone/>
            </a:pPr>
            <a:r>
              <a:rPr lang="en-US" sz="800" b="1" dirty="0">
                <a:solidFill>
                  <a:srgbClr val="B3261E"/>
                </a:solidFill>
                <a:latin typeface="Aptos" pitchFamily="34" charset="0"/>
                <a:ea typeface="Aptos" pitchFamily="34" charset="-122"/>
                <a:cs typeface="Aptos" pitchFamily="34" charset="-120"/>
              </a:rPr>
              <a:t>COLLECTION</a:t>
            </a:r>
            <a:endParaRPr lang="en-US" sz="800" dirty="0"/>
          </a:p>
        </p:txBody>
      </p:sp>
      <p:sp>
        <p:nvSpPr>
          <p:cNvPr id="5" name="Text 3"/>
          <p:cNvSpPr/>
          <p:nvPr/>
        </p:nvSpPr>
        <p:spPr>
          <a:xfrm>
            <a:off x="548640" y="667512"/>
            <a:ext cx="9784080" cy="438912"/>
          </a:xfrm>
          <a:prstGeom prst="rect">
            <a:avLst/>
          </a:prstGeom>
          <a:noFill/>
          <a:ln/>
        </p:spPr>
        <p:txBody>
          <a:bodyPr wrap="square" lIns="0" tIns="0" rIns="0" bIns="0" rtlCol="0" anchor="ctr">
            <a:normAutofit/>
          </a:bodyPr>
          <a:lstStyle/>
          <a:p>
            <a:pPr marL="0" indent="0">
              <a:buNone/>
            </a:pPr>
            <a:r>
              <a:rPr lang="en-US" sz="2500" b="1" dirty="0">
                <a:solidFill>
                  <a:srgbClr val="19324D"/>
                </a:solidFill>
                <a:latin typeface="Aptos Display" pitchFamily="34" charset="0"/>
                <a:ea typeface="Aptos Display" pitchFamily="34" charset="-122"/>
                <a:cs typeface="Aptos Display" pitchFamily="34" charset="-120"/>
              </a:rPr>
              <a:t>API integration and web scraping</a:t>
            </a:r>
            <a:endParaRPr lang="en-US" sz="2500" dirty="0"/>
          </a:p>
        </p:txBody>
      </p:sp>
      <p:sp>
        <p:nvSpPr>
          <p:cNvPr id="6" name="Shape 4"/>
          <p:cNvSpPr/>
          <p:nvPr/>
        </p:nvSpPr>
        <p:spPr>
          <a:xfrm>
            <a:off x="548640" y="1234440"/>
            <a:ext cx="11064240" cy="0"/>
          </a:xfrm>
          <a:prstGeom prst="line">
            <a:avLst/>
          </a:prstGeom>
          <a:noFill/>
          <a:ln w="12700">
            <a:solidFill>
              <a:srgbClr val="E5E7EB"/>
            </a:solidFill>
            <a:prstDash val="solid"/>
          </a:ln>
        </p:spPr>
      </p:sp>
      <p:sp>
        <p:nvSpPr>
          <p:cNvPr id="7" name="Shape 5"/>
          <p:cNvSpPr/>
          <p:nvPr/>
        </p:nvSpPr>
        <p:spPr>
          <a:xfrm>
            <a:off x="685800" y="1600200"/>
            <a:ext cx="5212080" cy="4114800"/>
          </a:xfrm>
          <a:prstGeom prst="roundRect">
            <a:avLst>
              <a:gd name="adj" fmla="val 1333"/>
            </a:avLst>
          </a:prstGeom>
          <a:solidFill>
            <a:srgbClr val="FFFFFF"/>
          </a:solidFill>
          <a:ln w="12700">
            <a:solidFill>
              <a:srgbClr val="E5E7EB"/>
            </a:solidFill>
            <a:prstDash val="solid"/>
          </a:ln>
        </p:spPr>
      </p:sp>
      <p:sp>
        <p:nvSpPr>
          <p:cNvPr id="8" name="Text 6"/>
          <p:cNvSpPr/>
          <p:nvPr/>
        </p:nvSpPr>
        <p:spPr>
          <a:xfrm>
            <a:off x="850392" y="1746504"/>
            <a:ext cx="48828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NewsAPI Fetching</a:t>
            </a:r>
            <a:endParaRPr lang="en-US" sz="1400" dirty="0"/>
          </a:p>
        </p:txBody>
      </p:sp>
      <p:sp>
        <p:nvSpPr>
          <p:cNvPr id="9" name="Text 7"/>
          <p:cNvSpPr/>
          <p:nvPr/>
        </p:nvSpPr>
        <p:spPr>
          <a:xfrm>
            <a:off x="850392" y="2130552"/>
            <a:ext cx="4882896" cy="3456432"/>
          </a:xfrm>
          <a:prstGeom prst="rect">
            <a:avLst/>
          </a:prstGeom>
          <a:noFill/>
          <a:ln/>
        </p:spPr>
        <p:txBody>
          <a:bodyPr wrap="square" lIns="254" tIns="254" rIns="254" bIns="254" rtlCol="0" anchor="t">
            <a:normAutofit/>
          </a:bodyPr>
          <a:lstStyle/>
          <a:p>
            <a:pPr marL="0" indent="0">
              <a:buNone/>
            </a:pPr>
            <a:r>
              <a:rPr lang="en-US" sz="1400" dirty="0">
                <a:solidFill>
                  <a:srgbClr val="1F2937"/>
                </a:solidFill>
              </a:rPr>
              <a:t>• Connects to a public News API to retrieve current articles.</a:t>
            </a:r>
            <a:endParaRPr lang="en-US" sz="1400" dirty="0"/>
          </a:p>
          <a:p>
            <a:pPr marL="0" indent="0">
              <a:buNone/>
            </a:pPr>
            <a:r>
              <a:rPr lang="en-US" sz="1400" dirty="0">
                <a:solidFill>
                  <a:srgbClr val="1F2937"/>
                </a:solidFill>
              </a:rPr>
              <a:t>• Supports category-based searches.</a:t>
            </a:r>
            <a:endParaRPr lang="en-US" sz="1400" dirty="0"/>
          </a:p>
          <a:p>
            <a:pPr marL="0" indent="0">
              <a:buNone/>
            </a:pPr>
            <a:r>
              <a:rPr lang="en-US" sz="1400" dirty="0">
                <a:solidFill>
                  <a:srgbClr val="1F2937"/>
                </a:solidFill>
              </a:rPr>
              <a:t>• Parses article title, source, author, description, content, URL and publication date.</a:t>
            </a:r>
            <a:endParaRPr lang="en-US" sz="1400" dirty="0"/>
          </a:p>
          <a:p>
            <a:pPr marL="0" indent="0">
              <a:buNone/>
            </a:pPr>
            <a:r>
              <a:rPr lang="en-US" sz="1400" dirty="0">
                <a:solidFill>
                  <a:srgbClr val="1F2937"/>
                </a:solidFill>
              </a:rPr>
              <a:t>• Uses fallback handling when API fields are missing or incomplete.</a:t>
            </a:r>
            <a:endParaRPr lang="en-US" sz="1400" dirty="0"/>
          </a:p>
          <a:p>
            <a:pPr marL="0" indent="0">
              <a:buNone/>
            </a:pPr>
            <a:r>
              <a:rPr lang="en-US" sz="1400" dirty="0">
                <a:solidFill>
                  <a:srgbClr val="1F2937"/>
                </a:solidFill>
              </a:rPr>
              <a:t>• API key is managed through configuration rather than hard-coded values.</a:t>
            </a:r>
            <a:endParaRPr lang="en-US" sz="1400" dirty="0"/>
          </a:p>
        </p:txBody>
      </p:sp>
      <p:sp>
        <p:nvSpPr>
          <p:cNvPr id="10" name="Shape 8"/>
          <p:cNvSpPr/>
          <p:nvPr/>
        </p:nvSpPr>
        <p:spPr>
          <a:xfrm>
            <a:off x="6309360" y="1600200"/>
            <a:ext cx="5212080" cy="4114800"/>
          </a:xfrm>
          <a:prstGeom prst="roundRect">
            <a:avLst>
              <a:gd name="adj" fmla="val 1333"/>
            </a:avLst>
          </a:prstGeom>
          <a:solidFill>
            <a:srgbClr val="FFFFFF"/>
          </a:solidFill>
          <a:ln w="12700">
            <a:solidFill>
              <a:srgbClr val="E5E7EB"/>
            </a:solidFill>
            <a:prstDash val="solid"/>
          </a:ln>
        </p:spPr>
      </p:sp>
      <p:sp>
        <p:nvSpPr>
          <p:cNvPr id="11" name="Text 9"/>
          <p:cNvSpPr/>
          <p:nvPr/>
        </p:nvSpPr>
        <p:spPr>
          <a:xfrm>
            <a:off x="6473952" y="1746504"/>
            <a:ext cx="48828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BeautifulSoup Scraping</a:t>
            </a:r>
            <a:endParaRPr lang="en-US" sz="1400" dirty="0"/>
          </a:p>
        </p:txBody>
      </p:sp>
      <p:sp>
        <p:nvSpPr>
          <p:cNvPr id="12" name="Text 10"/>
          <p:cNvSpPr/>
          <p:nvPr/>
        </p:nvSpPr>
        <p:spPr>
          <a:xfrm>
            <a:off x="6473952" y="2130552"/>
            <a:ext cx="4882896" cy="3456432"/>
          </a:xfrm>
          <a:prstGeom prst="rect">
            <a:avLst/>
          </a:prstGeom>
          <a:noFill/>
          <a:ln/>
        </p:spPr>
        <p:txBody>
          <a:bodyPr wrap="square" lIns="254" tIns="254" rIns="254" bIns="254" rtlCol="0" anchor="t">
            <a:normAutofit/>
          </a:bodyPr>
          <a:lstStyle/>
          <a:p>
            <a:pPr marL="0" indent="0">
              <a:buNone/>
            </a:pPr>
            <a:r>
              <a:rPr lang="en-US" sz="1400" dirty="0">
                <a:solidFill>
                  <a:srgbClr val="1F2937"/>
                </a:solidFill>
              </a:rPr>
              <a:t>• Visits article URLs to enrich the original API result.</a:t>
            </a:r>
            <a:endParaRPr lang="en-US" sz="1400" dirty="0"/>
          </a:p>
          <a:p>
            <a:pPr marL="0" indent="0">
              <a:buNone/>
            </a:pPr>
            <a:r>
              <a:rPr lang="en-US" sz="1400" dirty="0">
                <a:solidFill>
                  <a:srgbClr val="1F2937"/>
                </a:solidFill>
              </a:rPr>
              <a:t>• Extracts additional webpage text where available.</a:t>
            </a:r>
            <a:endParaRPr lang="en-US" sz="1400" dirty="0"/>
          </a:p>
          <a:p>
            <a:pPr marL="0" indent="0">
              <a:buNone/>
            </a:pPr>
            <a:r>
              <a:rPr lang="en-US" sz="1400" dirty="0">
                <a:solidFill>
                  <a:srgbClr val="1F2937"/>
                </a:solidFill>
              </a:rPr>
              <a:t>• Handles different site structures and failed requests safely.</a:t>
            </a:r>
            <a:endParaRPr lang="en-US" sz="1400" dirty="0"/>
          </a:p>
          <a:p>
            <a:pPr marL="0" indent="0">
              <a:buNone/>
            </a:pPr>
            <a:r>
              <a:rPr lang="en-US" sz="1400" dirty="0">
                <a:solidFill>
                  <a:srgbClr val="1F2937"/>
                </a:solidFill>
              </a:rPr>
              <a:t>• Preserves the API data when scraped content cannot be collected.</a:t>
            </a:r>
            <a:endParaRPr lang="en-US" sz="1400" dirty="0"/>
          </a:p>
          <a:p>
            <a:pPr marL="0" indent="0">
              <a:buNone/>
            </a:pPr>
            <a:r>
              <a:rPr lang="en-US" sz="1400" dirty="0">
                <a:solidFill>
                  <a:srgbClr val="1F2937"/>
                </a:solidFill>
              </a:rPr>
              <a:t>• Keeps the program running even when some sites block scraping.</a:t>
            </a:r>
            <a:endParaRPr lang="en-US" sz="1400" dirty="0"/>
          </a:p>
        </p:txBody>
      </p:sp>
      <p:sp>
        <p:nvSpPr>
          <p:cNvPr id="13" name="Text 11"/>
          <p:cNvSpPr/>
          <p:nvPr/>
        </p:nvSpPr>
        <p:spPr>
          <a:xfrm>
            <a:off x="11201400" y="6327648"/>
            <a:ext cx="411480" cy="228600"/>
          </a:xfrm>
          <a:prstGeom prst="rect">
            <a:avLst/>
          </a:prstGeom>
          <a:noFill/>
          <a:ln/>
        </p:spPr>
        <p:txBody>
          <a:bodyPr wrap="square" lIns="0" tIns="0" rIns="0" bIns="0" rtlCol="0" anchor="ctr"/>
          <a:lstStyle/>
          <a:p>
            <a:pPr marL="0" indent="0" algn="r">
              <a:buNone/>
            </a:pPr>
            <a:r>
              <a:rPr lang="en-US" sz="900" dirty="0">
                <a:solidFill>
                  <a:srgbClr val="6B7280"/>
                </a:solidFill>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3261E"/>
          </a:solidFill>
          <a:ln w="12700">
            <a:solidFill>
              <a:srgbClr val="B3261E">
                <a:alpha val="0"/>
              </a:srgbClr>
            </a:solidFill>
            <a:prstDash val="solid"/>
          </a:ln>
        </p:spPr>
      </p:sp>
      <p:sp>
        <p:nvSpPr>
          <p:cNvPr id="3" name="Shape 1"/>
          <p:cNvSpPr/>
          <p:nvPr/>
        </p:nvSpPr>
        <p:spPr>
          <a:xfrm>
            <a:off x="0" y="6720840"/>
            <a:ext cx="12191695" cy="137160"/>
          </a:xfrm>
          <a:prstGeom prst="rect">
            <a:avLst/>
          </a:prstGeom>
          <a:solidFill>
            <a:srgbClr val="FCEBE8"/>
          </a:solidFill>
          <a:ln w="12700">
            <a:solidFill>
              <a:srgbClr val="FCEBE8">
                <a:alpha val="0"/>
              </a:srgbClr>
            </a:solidFill>
            <a:prstDash val="solid"/>
          </a:ln>
        </p:spPr>
      </p:sp>
      <p:sp>
        <p:nvSpPr>
          <p:cNvPr id="4" name="Text 2"/>
          <p:cNvSpPr/>
          <p:nvPr/>
        </p:nvSpPr>
        <p:spPr>
          <a:xfrm>
            <a:off x="548640" y="384048"/>
            <a:ext cx="2194560" cy="228600"/>
          </a:xfrm>
          <a:prstGeom prst="rect">
            <a:avLst/>
          </a:prstGeom>
          <a:noFill/>
          <a:ln/>
        </p:spPr>
        <p:txBody>
          <a:bodyPr wrap="square" rtlCol="0" anchor="ctr">
            <a:normAutofit/>
          </a:bodyPr>
          <a:lstStyle/>
          <a:p>
            <a:pPr marL="0" indent="0">
              <a:buNone/>
            </a:pPr>
            <a:r>
              <a:rPr lang="en-US" sz="800" b="1" dirty="0">
                <a:solidFill>
                  <a:srgbClr val="B3261E"/>
                </a:solidFill>
                <a:latin typeface="Aptos" pitchFamily="34" charset="0"/>
                <a:ea typeface="Aptos" pitchFamily="34" charset="-122"/>
                <a:cs typeface="Aptos" pitchFamily="34" charset="-120"/>
              </a:rPr>
              <a:t>OOP DESIGN</a:t>
            </a:r>
            <a:endParaRPr lang="en-US" sz="800" dirty="0"/>
          </a:p>
        </p:txBody>
      </p:sp>
      <p:sp>
        <p:nvSpPr>
          <p:cNvPr id="5" name="Text 3"/>
          <p:cNvSpPr/>
          <p:nvPr/>
        </p:nvSpPr>
        <p:spPr>
          <a:xfrm>
            <a:off x="548640" y="667512"/>
            <a:ext cx="9784080" cy="438912"/>
          </a:xfrm>
          <a:prstGeom prst="rect">
            <a:avLst/>
          </a:prstGeom>
          <a:noFill/>
          <a:ln/>
        </p:spPr>
        <p:txBody>
          <a:bodyPr wrap="square" lIns="0" tIns="0" rIns="0" bIns="0" rtlCol="0" anchor="ctr">
            <a:normAutofit/>
          </a:bodyPr>
          <a:lstStyle/>
          <a:p>
            <a:pPr marL="0" indent="0">
              <a:buNone/>
            </a:pPr>
            <a:r>
              <a:rPr lang="en-US" sz="2500" b="1" dirty="0">
                <a:solidFill>
                  <a:srgbClr val="19324D"/>
                </a:solidFill>
                <a:latin typeface="Aptos Display" pitchFamily="34" charset="0"/>
                <a:ea typeface="Aptos Display" pitchFamily="34" charset="-122"/>
                <a:cs typeface="Aptos Display" pitchFamily="34" charset="-120"/>
              </a:rPr>
              <a:t>Clean class-based architecture</a:t>
            </a:r>
            <a:endParaRPr lang="en-US" sz="2500" dirty="0"/>
          </a:p>
        </p:txBody>
      </p:sp>
      <p:sp>
        <p:nvSpPr>
          <p:cNvPr id="6" name="Shape 4"/>
          <p:cNvSpPr/>
          <p:nvPr/>
        </p:nvSpPr>
        <p:spPr>
          <a:xfrm>
            <a:off x="548640" y="1234440"/>
            <a:ext cx="11064240" cy="0"/>
          </a:xfrm>
          <a:prstGeom prst="line">
            <a:avLst/>
          </a:prstGeom>
          <a:noFill/>
          <a:ln w="12700">
            <a:solidFill>
              <a:srgbClr val="E5E7EB"/>
            </a:solidFill>
            <a:prstDash val="solid"/>
          </a:ln>
        </p:spPr>
      </p:sp>
      <p:sp>
        <p:nvSpPr>
          <p:cNvPr id="7" name="Shape 5"/>
          <p:cNvSpPr/>
          <p:nvPr/>
        </p:nvSpPr>
        <p:spPr>
          <a:xfrm>
            <a:off x="731520" y="1554480"/>
            <a:ext cx="2057400" cy="1143000"/>
          </a:xfrm>
          <a:prstGeom prst="roundRect">
            <a:avLst>
              <a:gd name="adj" fmla="val 4800"/>
            </a:avLst>
          </a:prstGeom>
          <a:solidFill>
            <a:srgbClr val="FFFFFF"/>
          </a:solidFill>
          <a:ln w="12700">
            <a:solidFill>
              <a:srgbClr val="E5E7EB"/>
            </a:solidFill>
            <a:prstDash val="solid"/>
          </a:ln>
        </p:spPr>
      </p:sp>
      <p:sp>
        <p:nvSpPr>
          <p:cNvPr id="8" name="Text 6"/>
          <p:cNvSpPr/>
          <p:nvPr/>
        </p:nvSpPr>
        <p:spPr>
          <a:xfrm>
            <a:off x="896112" y="1700784"/>
            <a:ext cx="172821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NewsArticle</a:t>
            </a:r>
            <a:endParaRPr lang="en-US" sz="1400" dirty="0"/>
          </a:p>
        </p:txBody>
      </p:sp>
      <p:sp>
        <p:nvSpPr>
          <p:cNvPr id="9" name="Text 7"/>
          <p:cNvSpPr/>
          <p:nvPr/>
        </p:nvSpPr>
        <p:spPr>
          <a:xfrm>
            <a:off x="896112" y="2084832"/>
            <a:ext cx="1728216" cy="48463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Structured article object used across the program.</a:t>
            </a:r>
            <a:endParaRPr lang="en-US" sz="1150" dirty="0"/>
          </a:p>
        </p:txBody>
      </p:sp>
      <p:sp>
        <p:nvSpPr>
          <p:cNvPr id="10" name="Shape 8"/>
          <p:cNvSpPr/>
          <p:nvPr/>
        </p:nvSpPr>
        <p:spPr>
          <a:xfrm>
            <a:off x="3017520" y="1554480"/>
            <a:ext cx="2057400" cy="1143000"/>
          </a:xfrm>
          <a:prstGeom prst="roundRect">
            <a:avLst>
              <a:gd name="adj" fmla="val 4800"/>
            </a:avLst>
          </a:prstGeom>
          <a:solidFill>
            <a:srgbClr val="FFFFFF"/>
          </a:solidFill>
          <a:ln w="12700">
            <a:solidFill>
              <a:srgbClr val="E5E7EB"/>
            </a:solidFill>
            <a:prstDash val="solid"/>
          </a:ln>
        </p:spPr>
      </p:sp>
      <p:sp>
        <p:nvSpPr>
          <p:cNvPr id="11" name="Text 9"/>
          <p:cNvSpPr/>
          <p:nvPr/>
        </p:nvSpPr>
        <p:spPr>
          <a:xfrm>
            <a:off x="3182112" y="1700784"/>
            <a:ext cx="172821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BaseFetcher</a:t>
            </a:r>
            <a:endParaRPr lang="en-US" sz="1400" dirty="0"/>
          </a:p>
        </p:txBody>
      </p:sp>
      <p:sp>
        <p:nvSpPr>
          <p:cNvPr id="12" name="Text 10"/>
          <p:cNvSpPr/>
          <p:nvPr/>
        </p:nvSpPr>
        <p:spPr>
          <a:xfrm>
            <a:off x="3182112" y="2084832"/>
            <a:ext cx="1728216" cy="48463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Abstract parent class for fetching behaviour.</a:t>
            </a:r>
            <a:endParaRPr lang="en-US" sz="1150" dirty="0"/>
          </a:p>
        </p:txBody>
      </p:sp>
      <p:sp>
        <p:nvSpPr>
          <p:cNvPr id="13" name="Shape 11"/>
          <p:cNvSpPr/>
          <p:nvPr/>
        </p:nvSpPr>
        <p:spPr>
          <a:xfrm>
            <a:off x="5303520" y="1554480"/>
            <a:ext cx="2057400" cy="1143000"/>
          </a:xfrm>
          <a:prstGeom prst="roundRect">
            <a:avLst>
              <a:gd name="adj" fmla="val 4800"/>
            </a:avLst>
          </a:prstGeom>
          <a:solidFill>
            <a:srgbClr val="FFFFFF"/>
          </a:solidFill>
          <a:ln w="12700">
            <a:solidFill>
              <a:srgbClr val="E5E7EB"/>
            </a:solidFill>
            <a:prstDash val="solid"/>
          </a:ln>
        </p:spPr>
      </p:sp>
      <p:sp>
        <p:nvSpPr>
          <p:cNvPr id="14" name="Text 12"/>
          <p:cNvSpPr/>
          <p:nvPr/>
        </p:nvSpPr>
        <p:spPr>
          <a:xfrm>
            <a:off x="5468112" y="1700784"/>
            <a:ext cx="172821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NewsAPIFetcher</a:t>
            </a:r>
            <a:endParaRPr lang="en-US" sz="1400" dirty="0"/>
          </a:p>
        </p:txBody>
      </p:sp>
      <p:sp>
        <p:nvSpPr>
          <p:cNvPr id="15" name="Text 13"/>
          <p:cNvSpPr/>
          <p:nvPr/>
        </p:nvSpPr>
        <p:spPr>
          <a:xfrm>
            <a:off x="5468112" y="2084832"/>
            <a:ext cx="1728216" cy="48463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Connects to NewsAPI and returns article data.</a:t>
            </a:r>
            <a:endParaRPr lang="en-US" sz="1150" dirty="0"/>
          </a:p>
        </p:txBody>
      </p:sp>
      <p:sp>
        <p:nvSpPr>
          <p:cNvPr id="16" name="Shape 14"/>
          <p:cNvSpPr/>
          <p:nvPr/>
        </p:nvSpPr>
        <p:spPr>
          <a:xfrm>
            <a:off x="7589520" y="1554480"/>
            <a:ext cx="2057400" cy="1143000"/>
          </a:xfrm>
          <a:prstGeom prst="roundRect">
            <a:avLst>
              <a:gd name="adj" fmla="val 4800"/>
            </a:avLst>
          </a:prstGeom>
          <a:solidFill>
            <a:srgbClr val="FFFFFF"/>
          </a:solidFill>
          <a:ln w="12700">
            <a:solidFill>
              <a:srgbClr val="E5E7EB"/>
            </a:solidFill>
            <a:prstDash val="solid"/>
          </a:ln>
        </p:spPr>
      </p:sp>
      <p:sp>
        <p:nvSpPr>
          <p:cNvPr id="17" name="Text 15"/>
          <p:cNvSpPr/>
          <p:nvPr/>
        </p:nvSpPr>
        <p:spPr>
          <a:xfrm>
            <a:off x="7754112" y="1700784"/>
            <a:ext cx="172821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ArticleScraper</a:t>
            </a:r>
            <a:endParaRPr lang="en-US" sz="1400" dirty="0"/>
          </a:p>
        </p:txBody>
      </p:sp>
      <p:sp>
        <p:nvSpPr>
          <p:cNvPr id="18" name="Text 16"/>
          <p:cNvSpPr/>
          <p:nvPr/>
        </p:nvSpPr>
        <p:spPr>
          <a:xfrm>
            <a:off x="7754112" y="2084832"/>
            <a:ext cx="1728216" cy="48463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Extracts webpage content using BeautifulSoup.</a:t>
            </a:r>
            <a:endParaRPr lang="en-US" sz="1150" dirty="0"/>
          </a:p>
        </p:txBody>
      </p:sp>
      <p:sp>
        <p:nvSpPr>
          <p:cNvPr id="19" name="Shape 17"/>
          <p:cNvSpPr/>
          <p:nvPr/>
        </p:nvSpPr>
        <p:spPr>
          <a:xfrm>
            <a:off x="9875520" y="1554480"/>
            <a:ext cx="1828800" cy="1143000"/>
          </a:xfrm>
          <a:prstGeom prst="roundRect">
            <a:avLst>
              <a:gd name="adj" fmla="val 4800"/>
            </a:avLst>
          </a:prstGeom>
          <a:solidFill>
            <a:srgbClr val="FFFFFF"/>
          </a:solidFill>
          <a:ln w="12700">
            <a:solidFill>
              <a:srgbClr val="E5E7EB"/>
            </a:solidFill>
            <a:prstDash val="solid"/>
          </a:ln>
        </p:spPr>
      </p:sp>
      <p:sp>
        <p:nvSpPr>
          <p:cNvPr id="20" name="Text 18"/>
          <p:cNvSpPr/>
          <p:nvPr/>
        </p:nvSpPr>
        <p:spPr>
          <a:xfrm>
            <a:off x="10040112" y="1700784"/>
            <a:ext cx="149961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GUI</a:t>
            </a:r>
            <a:endParaRPr lang="en-US" sz="1400" dirty="0"/>
          </a:p>
        </p:txBody>
      </p:sp>
      <p:sp>
        <p:nvSpPr>
          <p:cNvPr id="21" name="Text 19"/>
          <p:cNvSpPr/>
          <p:nvPr/>
        </p:nvSpPr>
        <p:spPr>
          <a:xfrm>
            <a:off x="10040112" y="2084832"/>
            <a:ext cx="1499616" cy="48463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Runs user interaction through Tkinter.</a:t>
            </a:r>
            <a:endParaRPr lang="en-US" sz="1150" dirty="0"/>
          </a:p>
        </p:txBody>
      </p:sp>
      <p:sp>
        <p:nvSpPr>
          <p:cNvPr id="22" name="Shape 20"/>
          <p:cNvSpPr/>
          <p:nvPr/>
        </p:nvSpPr>
        <p:spPr>
          <a:xfrm>
            <a:off x="868680" y="3657600"/>
            <a:ext cx="3108960" cy="1097280"/>
          </a:xfrm>
          <a:prstGeom prst="roundRect">
            <a:avLst>
              <a:gd name="adj" fmla="val 5000"/>
            </a:avLst>
          </a:prstGeom>
          <a:solidFill>
            <a:srgbClr val="FFFFFF"/>
          </a:solidFill>
          <a:ln w="12700">
            <a:solidFill>
              <a:srgbClr val="E5E7EB"/>
            </a:solidFill>
            <a:prstDash val="solid"/>
          </a:ln>
        </p:spPr>
      </p:sp>
      <p:sp>
        <p:nvSpPr>
          <p:cNvPr id="23" name="Text 21"/>
          <p:cNvSpPr/>
          <p:nvPr/>
        </p:nvSpPr>
        <p:spPr>
          <a:xfrm>
            <a:off x="1033272" y="3803904"/>
            <a:ext cx="277977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Encapsulation</a:t>
            </a:r>
            <a:endParaRPr lang="en-US" sz="1400" dirty="0"/>
          </a:p>
        </p:txBody>
      </p:sp>
      <p:sp>
        <p:nvSpPr>
          <p:cNvPr id="24" name="Text 22"/>
          <p:cNvSpPr/>
          <p:nvPr/>
        </p:nvSpPr>
        <p:spPr>
          <a:xfrm>
            <a:off x="1033272" y="4187952"/>
            <a:ext cx="2779776" cy="43891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Each class manages its own task, keeping implementation details separated.</a:t>
            </a:r>
            <a:endParaRPr lang="en-US" sz="1150" dirty="0"/>
          </a:p>
        </p:txBody>
      </p:sp>
      <p:sp>
        <p:nvSpPr>
          <p:cNvPr id="25" name="Shape 23"/>
          <p:cNvSpPr/>
          <p:nvPr/>
        </p:nvSpPr>
        <p:spPr>
          <a:xfrm>
            <a:off x="4526280" y="3657600"/>
            <a:ext cx="3108960" cy="1097280"/>
          </a:xfrm>
          <a:prstGeom prst="roundRect">
            <a:avLst>
              <a:gd name="adj" fmla="val 5000"/>
            </a:avLst>
          </a:prstGeom>
          <a:solidFill>
            <a:srgbClr val="FFFFFF"/>
          </a:solidFill>
          <a:ln w="12700">
            <a:solidFill>
              <a:srgbClr val="E5E7EB"/>
            </a:solidFill>
            <a:prstDash val="solid"/>
          </a:ln>
        </p:spPr>
      </p:sp>
      <p:sp>
        <p:nvSpPr>
          <p:cNvPr id="26" name="Text 24"/>
          <p:cNvSpPr/>
          <p:nvPr/>
        </p:nvSpPr>
        <p:spPr>
          <a:xfrm>
            <a:off x="4690872" y="3803904"/>
            <a:ext cx="277977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Inheritance</a:t>
            </a:r>
            <a:endParaRPr lang="en-US" sz="1400" dirty="0"/>
          </a:p>
        </p:txBody>
      </p:sp>
      <p:sp>
        <p:nvSpPr>
          <p:cNvPr id="27" name="Text 25"/>
          <p:cNvSpPr/>
          <p:nvPr/>
        </p:nvSpPr>
        <p:spPr>
          <a:xfrm>
            <a:off x="4690872" y="4187952"/>
            <a:ext cx="2779776" cy="43891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The API fetcher builds on the base fetcher design to reduce repeated logic.</a:t>
            </a:r>
            <a:endParaRPr lang="en-US" sz="1150" dirty="0"/>
          </a:p>
        </p:txBody>
      </p:sp>
      <p:sp>
        <p:nvSpPr>
          <p:cNvPr id="28" name="Shape 26"/>
          <p:cNvSpPr/>
          <p:nvPr/>
        </p:nvSpPr>
        <p:spPr>
          <a:xfrm>
            <a:off x="8183880" y="3657600"/>
            <a:ext cx="3108960" cy="1097280"/>
          </a:xfrm>
          <a:prstGeom prst="roundRect">
            <a:avLst>
              <a:gd name="adj" fmla="val 5000"/>
            </a:avLst>
          </a:prstGeom>
          <a:solidFill>
            <a:srgbClr val="FFFFFF"/>
          </a:solidFill>
          <a:ln w="12700">
            <a:solidFill>
              <a:srgbClr val="E5E7EB"/>
            </a:solidFill>
            <a:prstDash val="solid"/>
          </a:ln>
        </p:spPr>
      </p:sp>
      <p:sp>
        <p:nvSpPr>
          <p:cNvPr id="29" name="Text 27"/>
          <p:cNvSpPr/>
          <p:nvPr/>
        </p:nvSpPr>
        <p:spPr>
          <a:xfrm>
            <a:off x="8348472" y="3803904"/>
            <a:ext cx="277977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Polymorphism</a:t>
            </a:r>
            <a:endParaRPr lang="en-US" sz="1400" dirty="0"/>
          </a:p>
        </p:txBody>
      </p:sp>
      <p:sp>
        <p:nvSpPr>
          <p:cNvPr id="30" name="Text 28"/>
          <p:cNvSpPr/>
          <p:nvPr/>
        </p:nvSpPr>
        <p:spPr>
          <a:xfrm>
            <a:off x="8348472" y="4187952"/>
            <a:ext cx="2779776" cy="43891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The fetcher structure can be extended for other APIs or sources in future versions.</a:t>
            </a:r>
            <a:endParaRPr lang="en-US" sz="1150" dirty="0"/>
          </a:p>
        </p:txBody>
      </p:sp>
      <p:sp>
        <p:nvSpPr>
          <p:cNvPr id="31" name="Text 29"/>
          <p:cNvSpPr/>
          <p:nvPr/>
        </p:nvSpPr>
        <p:spPr>
          <a:xfrm>
            <a:off x="11201400" y="6327648"/>
            <a:ext cx="411480" cy="228600"/>
          </a:xfrm>
          <a:prstGeom prst="rect">
            <a:avLst/>
          </a:prstGeom>
          <a:noFill/>
          <a:ln/>
        </p:spPr>
        <p:txBody>
          <a:bodyPr wrap="square" lIns="0" tIns="0" rIns="0" bIns="0" rtlCol="0" anchor="ctr"/>
          <a:lstStyle/>
          <a:p>
            <a:pPr marL="0" indent="0" algn="r">
              <a:buNone/>
            </a:pPr>
            <a:r>
              <a:rPr lang="en-US" sz="900" dirty="0">
                <a:solidFill>
                  <a:srgbClr val="6B7280"/>
                </a:solidFill>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3261E"/>
          </a:solidFill>
          <a:ln w="12700">
            <a:solidFill>
              <a:srgbClr val="B3261E">
                <a:alpha val="0"/>
              </a:srgbClr>
            </a:solidFill>
            <a:prstDash val="solid"/>
          </a:ln>
        </p:spPr>
      </p:sp>
      <p:sp>
        <p:nvSpPr>
          <p:cNvPr id="3" name="Shape 1"/>
          <p:cNvSpPr/>
          <p:nvPr/>
        </p:nvSpPr>
        <p:spPr>
          <a:xfrm>
            <a:off x="0" y="6720840"/>
            <a:ext cx="12191695" cy="137160"/>
          </a:xfrm>
          <a:prstGeom prst="rect">
            <a:avLst/>
          </a:prstGeom>
          <a:solidFill>
            <a:srgbClr val="FCEBE8"/>
          </a:solidFill>
          <a:ln w="12700">
            <a:solidFill>
              <a:srgbClr val="FCEBE8">
                <a:alpha val="0"/>
              </a:srgbClr>
            </a:solidFill>
            <a:prstDash val="solid"/>
          </a:ln>
        </p:spPr>
      </p:sp>
      <p:sp>
        <p:nvSpPr>
          <p:cNvPr id="4" name="Text 2"/>
          <p:cNvSpPr/>
          <p:nvPr/>
        </p:nvSpPr>
        <p:spPr>
          <a:xfrm>
            <a:off x="548640" y="384048"/>
            <a:ext cx="2194560" cy="228600"/>
          </a:xfrm>
          <a:prstGeom prst="rect">
            <a:avLst/>
          </a:prstGeom>
          <a:noFill/>
          <a:ln/>
        </p:spPr>
        <p:txBody>
          <a:bodyPr wrap="square" rtlCol="0" anchor="ctr">
            <a:normAutofit/>
          </a:bodyPr>
          <a:lstStyle/>
          <a:p>
            <a:pPr marL="0" indent="0">
              <a:buNone/>
            </a:pPr>
            <a:r>
              <a:rPr lang="en-US" sz="800" b="1" dirty="0">
                <a:solidFill>
                  <a:srgbClr val="B3261E"/>
                </a:solidFill>
                <a:latin typeface="Aptos" pitchFamily="34" charset="0"/>
                <a:ea typeface="Aptos" pitchFamily="34" charset="-122"/>
                <a:cs typeface="Aptos" pitchFamily="34" charset="-120"/>
              </a:rPr>
              <a:t>PROCESSING</a:t>
            </a:r>
            <a:endParaRPr lang="en-US" sz="800" dirty="0"/>
          </a:p>
        </p:txBody>
      </p:sp>
      <p:sp>
        <p:nvSpPr>
          <p:cNvPr id="5" name="Text 3"/>
          <p:cNvSpPr/>
          <p:nvPr/>
        </p:nvSpPr>
        <p:spPr>
          <a:xfrm>
            <a:off x="548640" y="667512"/>
            <a:ext cx="9784080" cy="438912"/>
          </a:xfrm>
          <a:prstGeom prst="rect">
            <a:avLst/>
          </a:prstGeom>
          <a:noFill/>
          <a:ln/>
        </p:spPr>
        <p:txBody>
          <a:bodyPr wrap="square" lIns="0" tIns="0" rIns="0" bIns="0" rtlCol="0" anchor="ctr">
            <a:normAutofit/>
          </a:bodyPr>
          <a:lstStyle/>
          <a:p>
            <a:pPr marL="0" indent="0">
              <a:buNone/>
            </a:pPr>
            <a:r>
              <a:rPr lang="en-US" sz="2500" b="1" dirty="0">
                <a:solidFill>
                  <a:srgbClr val="19324D"/>
                </a:solidFill>
                <a:latin typeface="Aptos Display" pitchFamily="34" charset="0"/>
                <a:ea typeface="Aptos Display" pitchFamily="34" charset="-122"/>
                <a:cs typeface="Aptos Display" pitchFamily="34" charset="-120"/>
              </a:rPr>
              <a:t>Cleaning, duplicate removal and export</a:t>
            </a:r>
            <a:endParaRPr lang="en-US" sz="2500" dirty="0"/>
          </a:p>
        </p:txBody>
      </p:sp>
      <p:sp>
        <p:nvSpPr>
          <p:cNvPr id="6" name="Shape 4"/>
          <p:cNvSpPr/>
          <p:nvPr/>
        </p:nvSpPr>
        <p:spPr>
          <a:xfrm>
            <a:off x="548640" y="1234440"/>
            <a:ext cx="11064240" cy="0"/>
          </a:xfrm>
          <a:prstGeom prst="line">
            <a:avLst/>
          </a:prstGeom>
          <a:noFill/>
          <a:ln w="12700">
            <a:solidFill>
              <a:srgbClr val="E5E7EB"/>
            </a:solidFill>
            <a:prstDash val="solid"/>
          </a:ln>
        </p:spPr>
      </p:sp>
      <p:sp>
        <p:nvSpPr>
          <p:cNvPr id="7" name="Text 5"/>
          <p:cNvSpPr/>
          <p:nvPr/>
        </p:nvSpPr>
        <p:spPr>
          <a:xfrm>
            <a:off x="685800" y="1481328"/>
            <a:ext cx="10424160" cy="411480"/>
          </a:xfrm>
          <a:prstGeom prst="rect">
            <a:avLst/>
          </a:prstGeom>
          <a:noFill/>
          <a:ln/>
        </p:spPr>
        <p:txBody>
          <a:bodyPr wrap="square" lIns="635" tIns="635" rIns="635" bIns="635" rtlCol="0" anchor="t">
            <a:normAutofit fontScale="92500"/>
          </a:bodyPr>
          <a:lstStyle/>
          <a:p>
            <a:pPr marL="0" indent="0" algn="l">
              <a:buNone/>
            </a:pPr>
            <a:r>
              <a:rPr lang="en-US" sz="1600" dirty="0">
                <a:solidFill>
                  <a:srgbClr val="1F2937"/>
                </a:solidFill>
                <a:latin typeface="Aptos" pitchFamily="34" charset="0"/>
                <a:ea typeface="Aptos" pitchFamily="34" charset="-122"/>
                <a:cs typeface="Aptos" pitchFamily="34" charset="-120"/>
              </a:rPr>
              <a:t>The processing stage turns raw API and scraped results into a consistent dataset that can be saved, reviewed and visualised.</a:t>
            </a:r>
            <a:endParaRPr lang="en-US" sz="1600" dirty="0"/>
          </a:p>
        </p:txBody>
      </p:sp>
      <p:sp>
        <p:nvSpPr>
          <p:cNvPr id="8" name="Shape 6"/>
          <p:cNvSpPr/>
          <p:nvPr/>
        </p:nvSpPr>
        <p:spPr>
          <a:xfrm>
            <a:off x="731520" y="2103120"/>
            <a:ext cx="3337560" cy="2011680"/>
          </a:xfrm>
          <a:prstGeom prst="roundRect">
            <a:avLst>
              <a:gd name="adj" fmla="val 2727"/>
            </a:avLst>
          </a:prstGeom>
          <a:solidFill>
            <a:srgbClr val="FFFFFF"/>
          </a:solidFill>
          <a:ln w="12700">
            <a:solidFill>
              <a:srgbClr val="E5E7EB"/>
            </a:solidFill>
            <a:prstDash val="solid"/>
          </a:ln>
        </p:spPr>
      </p:sp>
      <p:sp>
        <p:nvSpPr>
          <p:cNvPr id="9" name="Text 7"/>
          <p:cNvSpPr/>
          <p:nvPr/>
        </p:nvSpPr>
        <p:spPr>
          <a:xfrm>
            <a:off x="896112" y="2249424"/>
            <a:ext cx="300837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Data cleaning</a:t>
            </a:r>
            <a:endParaRPr lang="en-US" sz="1400" dirty="0"/>
          </a:p>
        </p:txBody>
      </p:sp>
      <p:sp>
        <p:nvSpPr>
          <p:cNvPr id="10" name="Text 8"/>
          <p:cNvSpPr/>
          <p:nvPr/>
        </p:nvSpPr>
        <p:spPr>
          <a:xfrm>
            <a:off x="896112" y="2633472"/>
            <a:ext cx="3008376" cy="1353312"/>
          </a:xfrm>
          <a:prstGeom prst="rect">
            <a:avLst/>
          </a:prstGeom>
          <a:noFill/>
          <a:ln/>
        </p:spPr>
        <p:txBody>
          <a:bodyPr wrap="square" lIns="254" tIns="254" rIns="254" bIns="254" rtlCol="0" anchor="t">
            <a:normAutofit/>
          </a:bodyPr>
          <a:lstStyle/>
          <a:p>
            <a:pPr marL="0" indent="0">
              <a:buNone/>
            </a:pPr>
            <a:r>
              <a:rPr lang="en-US" sz="1400" dirty="0">
                <a:solidFill>
                  <a:srgbClr val="1F2937"/>
                </a:solidFill>
              </a:rPr>
              <a:t>Missing authors, descriptions, dates and content are handled with fallback values so the final dataset stays usable.</a:t>
            </a:r>
            <a:endParaRPr lang="en-US" sz="1400" dirty="0"/>
          </a:p>
        </p:txBody>
      </p:sp>
      <p:sp>
        <p:nvSpPr>
          <p:cNvPr id="11" name="Shape 9"/>
          <p:cNvSpPr/>
          <p:nvPr/>
        </p:nvSpPr>
        <p:spPr>
          <a:xfrm>
            <a:off x="4434840" y="2103120"/>
            <a:ext cx="3337560" cy="2011680"/>
          </a:xfrm>
          <a:prstGeom prst="roundRect">
            <a:avLst>
              <a:gd name="adj" fmla="val 2727"/>
            </a:avLst>
          </a:prstGeom>
          <a:solidFill>
            <a:srgbClr val="FFFFFF"/>
          </a:solidFill>
          <a:ln w="12700">
            <a:solidFill>
              <a:srgbClr val="E5E7EB"/>
            </a:solidFill>
            <a:prstDash val="solid"/>
          </a:ln>
        </p:spPr>
      </p:sp>
      <p:sp>
        <p:nvSpPr>
          <p:cNvPr id="12" name="Text 10"/>
          <p:cNvSpPr/>
          <p:nvPr/>
        </p:nvSpPr>
        <p:spPr>
          <a:xfrm>
            <a:off x="4599432" y="2249424"/>
            <a:ext cx="300837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Duplicate control</a:t>
            </a:r>
            <a:endParaRPr lang="en-US" sz="1400" dirty="0"/>
          </a:p>
        </p:txBody>
      </p:sp>
      <p:sp>
        <p:nvSpPr>
          <p:cNvPr id="13" name="Text 11"/>
          <p:cNvSpPr/>
          <p:nvPr/>
        </p:nvSpPr>
        <p:spPr>
          <a:xfrm>
            <a:off x="4599432" y="2633472"/>
            <a:ext cx="3008376" cy="1353312"/>
          </a:xfrm>
          <a:prstGeom prst="rect">
            <a:avLst/>
          </a:prstGeom>
          <a:noFill/>
          <a:ln/>
        </p:spPr>
        <p:txBody>
          <a:bodyPr wrap="square" lIns="254" tIns="254" rIns="254" bIns="254" rtlCol="0" anchor="t">
            <a:normAutofit/>
          </a:bodyPr>
          <a:lstStyle/>
          <a:p>
            <a:pPr marL="0" indent="0">
              <a:buNone/>
            </a:pPr>
            <a:r>
              <a:rPr lang="en-US" sz="1400" dirty="0">
                <a:solidFill>
                  <a:srgbClr val="1F2937"/>
                </a:solidFill>
              </a:rPr>
              <a:t>Repeated articles are removed mainly through URLs and key article fields to improve dataset quality.</a:t>
            </a:r>
            <a:endParaRPr lang="en-US" sz="1400" dirty="0"/>
          </a:p>
        </p:txBody>
      </p:sp>
      <p:sp>
        <p:nvSpPr>
          <p:cNvPr id="14" name="Shape 12"/>
          <p:cNvSpPr/>
          <p:nvPr/>
        </p:nvSpPr>
        <p:spPr>
          <a:xfrm>
            <a:off x="8138160" y="2103120"/>
            <a:ext cx="3337560" cy="2011680"/>
          </a:xfrm>
          <a:prstGeom prst="roundRect">
            <a:avLst>
              <a:gd name="adj" fmla="val 2727"/>
            </a:avLst>
          </a:prstGeom>
          <a:solidFill>
            <a:srgbClr val="FFFFFF"/>
          </a:solidFill>
          <a:ln w="12700">
            <a:solidFill>
              <a:srgbClr val="E5E7EB"/>
            </a:solidFill>
            <a:prstDash val="solid"/>
          </a:ln>
        </p:spPr>
      </p:sp>
      <p:sp>
        <p:nvSpPr>
          <p:cNvPr id="15" name="Text 13"/>
          <p:cNvSpPr/>
          <p:nvPr/>
        </p:nvSpPr>
        <p:spPr>
          <a:xfrm>
            <a:off x="8302752" y="2249424"/>
            <a:ext cx="300837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CSV export</a:t>
            </a:r>
            <a:endParaRPr lang="en-US" sz="1400" dirty="0"/>
          </a:p>
        </p:txBody>
      </p:sp>
      <p:sp>
        <p:nvSpPr>
          <p:cNvPr id="16" name="Text 14"/>
          <p:cNvSpPr/>
          <p:nvPr/>
        </p:nvSpPr>
        <p:spPr>
          <a:xfrm>
            <a:off x="8302752" y="2633472"/>
            <a:ext cx="3008376" cy="1353312"/>
          </a:xfrm>
          <a:prstGeom prst="rect">
            <a:avLst/>
          </a:prstGeom>
          <a:noFill/>
          <a:ln/>
        </p:spPr>
        <p:txBody>
          <a:bodyPr wrap="square" lIns="254" tIns="254" rIns="254" bIns="254" rtlCol="0" anchor="t">
            <a:normAutofit/>
          </a:bodyPr>
          <a:lstStyle/>
          <a:p>
            <a:pPr marL="0" indent="0">
              <a:buNone/>
            </a:pPr>
            <a:r>
              <a:rPr lang="en-US" sz="1400" dirty="0">
                <a:solidFill>
                  <a:srgbClr val="1F2937"/>
                </a:solidFill>
              </a:rPr>
              <a:t>The processed dataset is saved in the data folder, making the result reusable after the program closes.</a:t>
            </a:r>
            <a:endParaRPr lang="en-US" sz="1400" dirty="0"/>
          </a:p>
        </p:txBody>
      </p:sp>
      <p:sp>
        <p:nvSpPr>
          <p:cNvPr id="17" name="Shape 15"/>
          <p:cNvSpPr/>
          <p:nvPr/>
        </p:nvSpPr>
        <p:spPr>
          <a:xfrm>
            <a:off x="1965960" y="4946904"/>
            <a:ext cx="8321040" cy="822960"/>
          </a:xfrm>
          <a:prstGeom prst="roundRect">
            <a:avLst>
              <a:gd name="adj" fmla="val 6667"/>
            </a:avLst>
          </a:prstGeom>
          <a:solidFill>
            <a:srgbClr val="FCEBE8"/>
          </a:solidFill>
          <a:ln w="12700">
            <a:solidFill>
              <a:srgbClr val="E5E7EB"/>
            </a:solidFill>
            <a:prstDash val="solid"/>
          </a:ln>
        </p:spPr>
      </p:sp>
      <p:sp>
        <p:nvSpPr>
          <p:cNvPr id="18" name="Text 16"/>
          <p:cNvSpPr/>
          <p:nvPr/>
        </p:nvSpPr>
        <p:spPr>
          <a:xfrm>
            <a:off x="2130552" y="4946904"/>
            <a:ext cx="799185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Result</a:t>
            </a:r>
            <a:endParaRPr lang="en-US" sz="1400" dirty="0"/>
          </a:p>
        </p:txBody>
      </p:sp>
      <p:sp>
        <p:nvSpPr>
          <p:cNvPr id="19" name="Text 17"/>
          <p:cNvSpPr/>
          <p:nvPr/>
        </p:nvSpPr>
        <p:spPr>
          <a:xfrm>
            <a:off x="2130552" y="5330952"/>
            <a:ext cx="7991856" cy="164592"/>
          </a:xfrm>
          <a:prstGeom prst="rect">
            <a:avLst/>
          </a:prstGeom>
          <a:noFill/>
          <a:ln/>
        </p:spPr>
        <p:txBody>
          <a:bodyPr wrap="square" lIns="254" tIns="254" rIns="254" bIns="254" rtlCol="0" anchor="t">
            <a:normAutofit fontScale="85000" lnSpcReduction="20000"/>
          </a:bodyPr>
          <a:lstStyle/>
          <a:p>
            <a:pPr marL="0" indent="0">
              <a:buNone/>
            </a:pPr>
            <a:r>
              <a:rPr lang="en-US" sz="1400" dirty="0">
                <a:solidFill>
                  <a:srgbClr val="1F2937"/>
                </a:solidFill>
              </a:rPr>
              <a:t>The final output is cleaner, more consistent and easier to analyse than the original mixed API and webpage responses.</a:t>
            </a:r>
            <a:endParaRPr lang="en-US" sz="1400" dirty="0"/>
          </a:p>
        </p:txBody>
      </p:sp>
      <p:sp>
        <p:nvSpPr>
          <p:cNvPr id="20" name="Text 18"/>
          <p:cNvSpPr/>
          <p:nvPr/>
        </p:nvSpPr>
        <p:spPr>
          <a:xfrm>
            <a:off x="11201400" y="6327648"/>
            <a:ext cx="411480" cy="228600"/>
          </a:xfrm>
          <a:prstGeom prst="rect">
            <a:avLst/>
          </a:prstGeom>
          <a:noFill/>
          <a:ln/>
        </p:spPr>
        <p:txBody>
          <a:bodyPr wrap="square" lIns="0" tIns="0" rIns="0" bIns="0" rtlCol="0" anchor="ctr"/>
          <a:lstStyle/>
          <a:p>
            <a:pPr marL="0" indent="0" algn="r">
              <a:buNone/>
            </a:pPr>
            <a:r>
              <a:rPr lang="en-US" sz="900" dirty="0">
                <a:solidFill>
                  <a:srgbClr val="6B7280"/>
                </a:solidFill>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3261E"/>
          </a:solidFill>
          <a:ln w="12700">
            <a:solidFill>
              <a:srgbClr val="B3261E">
                <a:alpha val="0"/>
              </a:srgbClr>
            </a:solidFill>
            <a:prstDash val="solid"/>
          </a:ln>
        </p:spPr>
      </p:sp>
      <p:sp>
        <p:nvSpPr>
          <p:cNvPr id="3" name="Shape 1"/>
          <p:cNvSpPr/>
          <p:nvPr/>
        </p:nvSpPr>
        <p:spPr>
          <a:xfrm>
            <a:off x="0" y="6720840"/>
            <a:ext cx="12191695" cy="137160"/>
          </a:xfrm>
          <a:prstGeom prst="rect">
            <a:avLst/>
          </a:prstGeom>
          <a:solidFill>
            <a:srgbClr val="FCEBE8"/>
          </a:solidFill>
          <a:ln w="12700">
            <a:solidFill>
              <a:srgbClr val="FCEBE8">
                <a:alpha val="0"/>
              </a:srgbClr>
            </a:solidFill>
            <a:prstDash val="solid"/>
          </a:ln>
        </p:spPr>
      </p:sp>
      <p:sp>
        <p:nvSpPr>
          <p:cNvPr id="4" name="Text 2"/>
          <p:cNvSpPr/>
          <p:nvPr/>
        </p:nvSpPr>
        <p:spPr>
          <a:xfrm>
            <a:off x="548640" y="384048"/>
            <a:ext cx="2194560" cy="228600"/>
          </a:xfrm>
          <a:prstGeom prst="rect">
            <a:avLst/>
          </a:prstGeom>
          <a:noFill/>
          <a:ln/>
        </p:spPr>
        <p:txBody>
          <a:bodyPr wrap="square" rtlCol="0" anchor="ctr">
            <a:normAutofit/>
          </a:bodyPr>
          <a:lstStyle/>
          <a:p>
            <a:pPr marL="0" indent="0">
              <a:buNone/>
            </a:pPr>
            <a:r>
              <a:rPr lang="en-US" sz="800" b="1" dirty="0">
                <a:solidFill>
                  <a:srgbClr val="B3261E"/>
                </a:solidFill>
                <a:latin typeface="Aptos" pitchFamily="34" charset="0"/>
                <a:ea typeface="Aptos" pitchFamily="34" charset="-122"/>
                <a:cs typeface="Aptos" pitchFamily="34" charset="-120"/>
              </a:rPr>
              <a:t>VISUAL OUTPUTS</a:t>
            </a:r>
            <a:endParaRPr lang="en-US" sz="800" dirty="0"/>
          </a:p>
        </p:txBody>
      </p:sp>
      <p:sp>
        <p:nvSpPr>
          <p:cNvPr id="5" name="Text 3"/>
          <p:cNvSpPr/>
          <p:nvPr/>
        </p:nvSpPr>
        <p:spPr>
          <a:xfrm>
            <a:off x="548640" y="667512"/>
            <a:ext cx="9784080" cy="438912"/>
          </a:xfrm>
          <a:prstGeom prst="rect">
            <a:avLst/>
          </a:prstGeom>
          <a:noFill/>
          <a:ln/>
        </p:spPr>
        <p:txBody>
          <a:bodyPr wrap="square" lIns="0" tIns="0" rIns="0" bIns="0" rtlCol="0" anchor="ctr">
            <a:normAutofit/>
          </a:bodyPr>
          <a:lstStyle/>
          <a:p>
            <a:pPr marL="0" indent="0">
              <a:buNone/>
            </a:pPr>
            <a:r>
              <a:rPr lang="en-US" sz="2500" b="1" dirty="0">
                <a:solidFill>
                  <a:srgbClr val="19324D"/>
                </a:solidFill>
                <a:latin typeface="Aptos Display" pitchFamily="34" charset="0"/>
                <a:ea typeface="Aptos Display" pitchFamily="34" charset="-122"/>
                <a:cs typeface="Aptos Display" pitchFamily="34" charset="-120"/>
              </a:rPr>
              <a:t>Source distribution and author availability</a:t>
            </a:r>
            <a:endParaRPr lang="en-US" sz="2500" dirty="0"/>
          </a:p>
        </p:txBody>
      </p:sp>
      <p:sp>
        <p:nvSpPr>
          <p:cNvPr id="6" name="Shape 4"/>
          <p:cNvSpPr/>
          <p:nvPr/>
        </p:nvSpPr>
        <p:spPr>
          <a:xfrm>
            <a:off x="548640" y="1234440"/>
            <a:ext cx="11064240" cy="0"/>
          </a:xfrm>
          <a:prstGeom prst="line">
            <a:avLst/>
          </a:prstGeom>
          <a:noFill/>
          <a:ln w="12700">
            <a:solidFill>
              <a:srgbClr val="E5E7EB"/>
            </a:solidFill>
            <a:prstDash val="solid"/>
          </a:ln>
        </p:spPr>
      </p:sp>
      <p:sp>
        <p:nvSpPr>
          <p:cNvPr id="7" name="Shape 5"/>
          <p:cNvSpPr/>
          <p:nvPr/>
        </p:nvSpPr>
        <p:spPr>
          <a:xfrm>
            <a:off x="594360" y="1508760"/>
            <a:ext cx="5394960" cy="4526280"/>
          </a:xfrm>
          <a:prstGeom prst="roundRect">
            <a:avLst>
              <a:gd name="adj" fmla="val 1212"/>
            </a:avLst>
          </a:prstGeom>
          <a:solidFill>
            <a:srgbClr val="FFFFFF"/>
          </a:solidFill>
          <a:ln w="12700">
            <a:solidFill>
              <a:srgbClr val="E5E7EB"/>
            </a:solidFill>
            <a:prstDash val="solid"/>
          </a:ln>
        </p:spPr>
      </p:sp>
      <p:pic>
        <p:nvPicPr>
          <p:cNvPr id="8" name="Image 0" descr="/mnt/data/243671E5-D3C1-4631-B458-88089FD53297.jpeg"/>
          <p:cNvPicPr>
            <a:picLocks noChangeAspect="1"/>
          </p:cNvPicPr>
          <p:nvPr/>
        </p:nvPicPr>
        <p:blipFill>
          <a:blip r:embed="rId3"/>
          <a:stretch>
            <a:fillRect/>
          </a:stretch>
        </p:blipFill>
        <p:spPr>
          <a:xfrm>
            <a:off x="841248" y="2226564"/>
            <a:ext cx="4901184" cy="2450592"/>
          </a:xfrm>
          <a:prstGeom prst="rect">
            <a:avLst/>
          </a:prstGeom>
        </p:spPr>
      </p:pic>
      <p:sp>
        <p:nvSpPr>
          <p:cNvPr id="9" name="Text 6"/>
          <p:cNvSpPr/>
          <p:nvPr/>
        </p:nvSpPr>
        <p:spPr>
          <a:xfrm>
            <a:off x="0" y="0"/>
            <a:ext cx="9143771" cy="0"/>
          </a:xfrm>
          <a:prstGeom prst="rect">
            <a:avLst/>
          </a:prstGeom>
          <a:noFill/>
          <a:ln/>
        </p:spPr>
        <p:txBody>
          <a:bodyPr wrap="square" lIns="635" tIns="635" rIns="635" bIns="635" rtlCol="0" anchor="t">
            <a:normAutofit fontScale="25000" lnSpcReduction="20000"/>
          </a:bodyPr>
          <a:lstStyle/>
          <a:p>
            <a:pPr marL="0" indent="0" algn="l">
              <a:buNone/>
            </a:pPr>
            <a:r>
              <a:rPr lang="en-US" sz="1500" dirty="0">
                <a:solidFill>
                  <a:srgbClr val="1F2937"/>
                </a:solidFill>
                <a:latin typeface="Aptos" pitchFamily="34" charset="0"/>
                <a:ea typeface="Aptos" pitchFamily="34" charset="-122"/>
                <a:cs typeface="Aptos" pitchFamily="34" charset="-120"/>
              </a:rPr>
              <a:t>Number of Articles by Source</a:t>
            </a:r>
            <a:endParaRPr lang="en-US" sz="1500" dirty="0"/>
          </a:p>
        </p:txBody>
      </p:sp>
      <p:sp>
        <p:nvSpPr>
          <p:cNvPr id="10" name="Text 7"/>
          <p:cNvSpPr/>
          <p:nvPr/>
        </p:nvSpPr>
        <p:spPr>
          <a:xfrm>
            <a:off x="1005840" y="5349240"/>
            <a:ext cx="4480560" cy="274320"/>
          </a:xfrm>
          <a:prstGeom prst="rect">
            <a:avLst/>
          </a:prstGeom>
          <a:noFill/>
          <a:ln/>
        </p:spPr>
        <p:txBody>
          <a:bodyPr wrap="square" lIns="0" tIns="0" rIns="0" bIns="0" rtlCol="0" anchor="ctr"/>
          <a:lstStyle/>
          <a:p>
            <a:pPr marL="0" indent="0" algn="ctr">
              <a:buNone/>
            </a:pPr>
            <a:r>
              <a:rPr lang="en-US" sz="1300" b="1" dirty="0">
                <a:solidFill>
                  <a:srgbClr val="19324D"/>
                </a:solidFill>
              </a:rPr>
              <a:t>Number of Articles by Source</a:t>
            </a:r>
            <a:endParaRPr lang="en-US" sz="1300" dirty="0"/>
          </a:p>
        </p:txBody>
      </p:sp>
      <p:sp>
        <p:nvSpPr>
          <p:cNvPr id="11" name="Shape 8"/>
          <p:cNvSpPr/>
          <p:nvPr/>
        </p:nvSpPr>
        <p:spPr>
          <a:xfrm>
            <a:off x="6309360" y="1508760"/>
            <a:ext cx="5303520" cy="4526280"/>
          </a:xfrm>
          <a:prstGeom prst="roundRect">
            <a:avLst>
              <a:gd name="adj" fmla="val 1212"/>
            </a:avLst>
          </a:prstGeom>
          <a:solidFill>
            <a:srgbClr val="FFFFFF"/>
          </a:solidFill>
          <a:ln w="12700">
            <a:solidFill>
              <a:srgbClr val="E5E7EB"/>
            </a:solidFill>
            <a:prstDash val="solid"/>
          </a:ln>
        </p:spPr>
      </p:sp>
      <p:pic>
        <p:nvPicPr>
          <p:cNvPr id="12" name="Image 1" descr="/mnt/data/eb22816e-3fa3-4772-9294-56ca740de919.jpeg"/>
          <p:cNvPicPr>
            <a:picLocks noChangeAspect="1"/>
          </p:cNvPicPr>
          <p:nvPr/>
        </p:nvPicPr>
        <p:blipFill>
          <a:blip r:embed="rId4"/>
          <a:stretch>
            <a:fillRect/>
          </a:stretch>
        </p:blipFill>
        <p:spPr>
          <a:xfrm>
            <a:off x="7013448" y="1828800"/>
            <a:ext cx="3895344" cy="3246120"/>
          </a:xfrm>
          <a:prstGeom prst="rect">
            <a:avLst/>
          </a:prstGeom>
        </p:spPr>
      </p:pic>
      <p:sp>
        <p:nvSpPr>
          <p:cNvPr id="13" name="Text 9"/>
          <p:cNvSpPr/>
          <p:nvPr/>
        </p:nvSpPr>
        <p:spPr>
          <a:xfrm>
            <a:off x="6629400" y="5349240"/>
            <a:ext cx="4663440" cy="274320"/>
          </a:xfrm>
          <a:prstGeom prst="rect">
            <a:avLst/>
          </a:prstGeom>
          <a:noFill/>
          <a:ln/>
        </p:spPr>
        <p:txBody>
          <a:bodyPr wrap="square" lIns="0" tIns="0" rIns="0" bIns="0" rtlCol="0" anchor="ctr"/>
          <a:lstStyle/>
          <a:p>
            <a:pPr marL="0" indent="0" algn="ctr">
              <a:buNone/>
            </a:pPr>
            <a:r>
              <a:rPr lang="en-US" sz="1300" b="1" dirty="0">
                <a:solidFill>
                  <a:srgbClr val="19324D"/>
                </a:solidFill>
              </a:rPr>
              <a:t>Author Information Availability</a:t>
            </a:r>
            <a:endParaRPr lang="en-US" sz="1300" dirty="0"/>
          </a:p>
        </p:txBody>
      </p:sp>
      <p:sp>
        <p:nvSpPr>
          <p:cNvPr id="14" name="Text 10"/>
          <p:cNvSpPr/>
          <p:nvPr/>
        </p:nvSpPr>
        <p:spPr>
          <a:xfrm>
            <a:off x="11201400" y="6327648"/>
            <a:ext cx="411480" cy="228600"/>
          </a:xfrm>
          <a:prstGeom prst="rect">
            <a:avLst/>
          </a:prstGeom>
          <a:noFill/>
          <a:ln/>
        </p:spPr>
        <p:txBody>
          <a:bodyPr wrap="square" lIns="0" tIns="0" rIns="0" bIns="0" rtlCol="0" anchor="ctr"/>
          <a:lstStyle/>
          <a:p>
            <a:pPr marL="0" indent="0" algn="r">
              <a:buNone/>
            </a:pPr>
            <a:r>
              <a:rPr lang="en-US" sz="900" dirty="0">
                <a:solidFill>
                  <a:srgbClr val="6B7280"/>
                </a:solidFill>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3261E"/>
          </a:solidFill>
          <a:ln w="12700">
            <a:solidFill>
              <a:srgbClr val="B3261E">
                <a:alpha val="0"/>
              </a:srgbClr>
            </a:solidFill>
            <a:prstDash val="solid"/>
          </a:ln>
        </p:spPr>
      </p:sp>
      <p:sp>
        <p:nvSpPr>
          <p:cNvPr id="3" name="Shape 1"/>
          <p:cNvSpPr/>
          <p:nvPr/>
        </p:nvSpPr>
        <p:spPr>
          <a:xfrm>
            <a:off x="0" y="6720840"/>
            <a:ext cx="12191695" cy="137160"/>
          </a:xfrm>
          <a:prstGeom prst="rect">
            <a:avLst/>
          </a:prstGeom>
          <a:solidFill>
            <a:srgbClr val="FCEBE8"/>
          </a:solidFill>
          <a:ln w="12700">
            <a:solidFill>
              <a:srgbClr val="FCEBE8">
                <a:alpha val="0"/>
              </a:srgbClr>
            </a:solidFill>
            <a:prstDash val="solid"/>
          </a:ln>
        </p:spPr>
      </p:sp>
      <p:sp>
        <p:nvSpPr>
          <p:cNvPr id="4" name="Text 2"/>
          <p:cNvSpPr/>
          <p:nvPr/>
        </p:nvSpPr>
        <p:spPr>
          <a:xfrm>
            <a:off x="548640" y="384048"/>
            <a:ext cx="2194560" cy="228600"/>
          </a:xfrm>
          <a:prstGeom prst="rect">
            <a:avLst/>
          </a:prstGeom>
          <a:noFill/>
          <a:ln/>
        </p:spPr>
        <p:txBody>
          <a:bodyPr wrap="square" rtlCol="0" anchor="ctr">
            <a:normAutofit/>
          </a:bodyPr>
          <a:lstStyle/>
          <a:p>
            <a:pPr marL="0" indent="0">
              <a:buNone/>
            </a:pPr>
            <a:r>
              <a:rPr lang="en-US" sz="800" b="1" dirty="0">
                <a:solidFill>
                  <a:srgbClr val="B3261E"/>
                </a:solidFill>
                <a:latin typeface="Aptos" pitchFamily="34" charset="0"/>
                <a:ea typeface="Aptos" pitchFamily="34" charset="-122"/>
                <a:cs typeface="Aptos" pitchFamily="34" charset="-120"/>
              </a:rPr>
              <a:t>INTERFACE</a:t>
            </a:r>
            <a:endParaRPr lang="en-US" sz="800" dirty="0"/>
          </a:p>
        </p:txBody>
      </p:sp>
      <p:sp>
        <p:nvSpPr>
          <p:cNvPr id="5" name="Text 3"/>
          <p:cNvSpPr/>
          <p:nvPr/>
        </p:nvSpPr>
        <p:spPr>
          <a:xfrm>
            <a:off x="548640" y="667512"/>
            <a:ext cx="9784080" cy="438912"/>
          </a:xfrm>
          <a:prstGeom prst="rect">
            <a:avLst/>
          </a:prstGeom>
          <a:noFill/>
          <a:ln/>
        </p:spPr>
        <p:txBody>
          <a:bodyPr wrap="square" lIns="0" tIns="0" rIns="0" bIns="0" rtlCol="0" anchor="ctr">
            <a:normAutofit/>
          </a:bodyPr>
          <a:lstStyle/>
          <a:p>
            <a:pPr marL="0" indent="0">
              <a:buNone/>
            </a:pPr>
            <a:r>
              <a:rPr lang="en-US" sz="2500" b="1" dirty="0">
                <a:solidFill>
                  <a:srgbClr val="19324D"/>
                </a:solidFill>
                <a:latin typeface="Aptos Display" pitchFamily="34" charset="0"/>
                <a:ea typeface="Aptos Display" pitchFamily="34" charset="-122"/>
                <a:cs typeface="Aptos Display" pitchFamily="34" charset="-120"/>
              </a:rPr>
              <a:t>GUI screenshot from the running application</a:t>
            </a:r>
            <a:endParaRPr lang="en-US" sz="2500" dirty="0"/>
          </a:p>
        </p:txBody>
      </p:sp>
      <p:sp>
        <p:nvSpPr>
          <p:cNvPr id="6" name="Shape 4"/>
          <p:cNvSpPr/>
          <p:nvPr/>
        </p:nvSpPr>
        <p:spPr>
          <a:xfrm>
            <a:off x="548640" y="1234440"/>
            <a:ext cx="11064240" cy="0"/>
          </a:xfrm>
          <a:prstGeom prst="line">
            <a:avLst/>
          </a:prstGeom>
          <a:noFill/>
          <a:ln w="12700">
            <a:solidFill>
              <a:srgbClr val="E5E7EB"/>
            </a:solidFill>
            <a:prstDash val="solid"/>
          </a:ln>
        </p:spPr>
      </p:sp>
      <p:sp>
        <p:nvSpPr>
          <p:cNvPr id="7" name="Shape 5"/>
          <p:cNvSpPr/>
          <p:nvPr/>
        </p:nvSpPr>
        <p:spPr>
          <a:xfrm>
            <a:off x="640080" y="1463040"/>
            <a:ext cx="10927080" cy="4297680"/>
          </a:xfrm>
          <a:prstGeom prst="roundRect">
            <a:avLst>
              <a:gd name="adj" fmla="val 1064"/>
            </a:avLst>
          </a:prstGeom>
          <a:solidFill>
            <a:srgbClr val="FFFFFF"/>
          </a:solidFill>
          <a:ln w="12700">
            <a:solidFill>
              <a:srgbClr val="E5E7EB"/>
            </a:solidFill>
            <a:prstDash val="solid"/>
          </a:ln>
        </p:spPr>
      </p:sp>
      <p:pic>
        <p:nvPicPr>
          <p:cNvPr id="8" name="Image 0" descr="/mnt/data/F6F2CB2A-45B9-4C81-BD07-CFBD57F224B9.jpeg"/>
          <p:cNvPicPr>
            <a:picLocks noChangeAspect="1"/>
          </p:cNvPicPr>
          <p:nvPr/>
        </p:nvPicPr>
        <p:blipFill>
          <a:blip r:embed="rId3"/>
          <a:stretch>
            <a:fillRect/>
          </a:stretch>
        </p:blipFill>
        <p:spPr>
          <a:xfrm>
            <a:off x="2177947" y="1627632"/>
            <a:ext cx="7851345" cy="3950208"/>
          </a:xfrm>
          <a:prstGeom prst="rect">
            <a:avLst/>
          </a:prstGeom>
        </p:spPr>
      </p:pic>
      <p:sp>
        <p:nvSpPr>
          <p:cNvPr id="9" name="Text 6"/>
          <p:cNvSpPr/>
          <p:nvPr/>
        </p:nvSpPr>
        <p:spPr>
          <a:xfrm>
            <a:off x="777240" y="5989320"/>
            <a:ext cx="10515600" cy="301752"/>
          </a:xfrm>
          <a:prstGeom prst="rect">
            <a:avLst/>
          </a:prstGeom>
          <a:noFill/>
          <a:ln/>
        </p:spPr>
        <p:txBody>
          <a:bodyPr wrap="square" lIns="0" tIns="0" rIns="0" bIns="0" rtlCol="0" anchor="ctr">
            <a:normAutofit fontScale="85000" lnSpcReduction="10000"/>
          </a:bodyPr>
          <a:lstStyle/>
          <a:p>
            <a:pPr marL="0" indent="0" algn="ctr">
              <a:buNone/>
            </a:pPr>
            <a:r>
              <a:rPr lang="en-US" sz="1400" dirty="0">
                <a:solidFill>
                  <a:srgbClr val="1F2937"/>
                </a:solidFill>
              </a:rPr>
              <a:t>The interface allows the user to select a category, enter the number of articles, fetch news, and view source/author charts without using command-line input.</a:t>
            </a:r>
            <a:endParaRPr lang="en-US" sz="1400" dirty="0"/>
          </a:p>
        </p:txBody>
      </p:sp>
      <p:sp>
        <p:nvSpPr>
          <p:cNvPr id="10" name="Text 7"/>
          <p:cNvSpPr/>
          <p:nvPr/>
        </p:nvSpPr>
        <p:spPr>
          <a:xfrm>
            <a:off x="11201400" y="6327648"/>
            <a:ext cx="411480" cy="228600"/>
          </a:xfrm>
          <a:prstGeom prst="rect">
            <a:avLst/>
          </a:prstGeom>
          <a:noFill/>
          <a:ln/>
        </p:spPr>
        <p:txBody>
          <a:bodyPr wrap="square" lIns="0" tIns="0" rIns="0" bIns="0" rtlCol="0" anchor="ctr"/>
          <a:lstStyle/>
          <a:p>
            <a:pPr marL="0" indent="0" algn="r">
              <a:buNone/>
            </a:pPr>
            <a:r>
              <a:rPr lang="en-US" sz="900" dirty="0">
                <a:solidFill>
                  <a:srgbClr val="6B7280"/>
                </a:solidFill>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3261E"/>
          </a:solidFill>
          <a:ln w="12700">
            <a:solidFill>
              <a:srgbClr val="B3261E">
                <a:alpha val="0"/>
              </a:srgbClr>
            </a:solidFill>
            <a:prstDash val="solid"/>
          </a:ln>
        </p:spPr>
      </p:sp>
      <p:sp>
        <p:nvSpPr>
          <p:cNvPr id="3" name="Shape 1"/>
          <p:cNvSpPr/>
          <p:nvPr/>
        </p:nvSpPr>
        <p:spPr>
          <a:xfrm>
            <a:off x="0" y="6720840"/>
            <a:ext cx="12191695" cy="137160"/>
          </a:xfrm>
          <a:prstGeom prst="rect">
            <a:avLst/>
          </a:prstGeom>
          <a:solidFill>
            <a:srgbClr val="FCEBE8"/>
          </a:solidFill>
          <a:ln w="12700">
            <a:solidFill>
              <a:srgbClr val="FCEBE8">
                <a:alpha val="0"/>
              </a:srgbClr>
            </a:solidFill>
            <a:prstDash val="solid"/>
          </a:ln>
        </p:spPr>
      </p:sp>
      <p:sp>
        <p:nvSpPr>
          <p:cNvPr id="4" name="Text 2"/>
          <p:cNvSpPr/>
          <p:nvPr/>
        </p:nvSpPr>
        <p:spPr>
          <a:xfrm>
            <a:off x="548640" y="384048"/>
            <a:ext cx="2194560" cy="228600"/>
          </a:xfrm>
          <a:prstGeom prst="rect">
            <a:avLst/>
          </a:prstGeom>
          <a:noFill/>
          <a:ln/>
        </p:spPr>
        <p:txBody>
          <a:bodyPr wrap="square" rtlCol="0" anchor="ctr">
            <a:normAutofit/>
          </a:bodyPr>
          <a:lstStyle/>
          <a:p>
            <a:pPr marL="0" indent="0">
              <a:buNone/>
            </a:pPr>
            <a:r>
              <a:rPr lang="en-US" sz="800" b="1" dirty="0">
                <a:solidFill>
                  <a:srgbClr val="B3261E"/>
                </a:solidFill>
                <a:latin typeface="Aptos" pitchFamily="34" charset="0"/>
                <a:ea typeface="Aptos" pitchFamily="34" charset="-122"/>
                <a:cs typeface="Aptos" pitchFamily="34" charset="-120"/>
              </a:rPr>
              <a:t>CHALLENGES</a:t>
            </a:r>
            <a:endParaRPr lang="en-US" sz="800" dirty="0"/>
          </a:p>
        </p:txBody>
      </p:sp>
      <p:sp>
        <p:nvSpPr>
          <p:cNvPr id="5" name="Text 3"/>
          <p:cNvSpPr/>
          <p:nvPr/>
        </p:nvSpPr>
        <p:spPr>
          <a:xfrm>
            <a:off x="548640" y="667512"/>
            <a:ext cx="9784080" cy="438912"/>
          </a:xfrm>
          <a:prstGeom prst="rect">
            <a:avLst/>
          </a:prstGeom>
          <a:noFill/>
          <a:ln/>
        </p:spPr>
        <p:txBody>
          <a:bodyPr wrap="square" lIns="0" tIns="0" rIns="0" bIns="0" rtlCol="0" anchor="ctr">
            <a:normAutofit/>
          </a:bodyPr>
          <a:lstStyle/>
          <a:p>
            <a:pPr marL="0" indent="0">
              <a:buNone/>
            </a:pPr>
            <a:r>
              <a:rPr lang="en-US" sz="2500" b="1" dirty="0">
                <a:solidFill>
                  <a:srgbClr val="19324D"/>
                </a:solidFill>
                <a:latin typeface="Aptos Display" pitchFamily="34" charset="0"/>
                <a:ea typeface="Aptos Display" pitchFamily="34" charset="-122"/>
                <a:cs typeface="Aptos Display" pitchFamily="34" charset="-120"/>
              </a:rPr>
              <a:t>Key issues handled during development</a:t>
            </a:r>
            <a:endParaRPr lang="en-US" sz="2500" dirty="0"/>
          </a:p>
        </p:txBody>
      </p:sp>
      <p:sp>
        <p:nvSpPr>
          <p:cNvPr id="6" name="Shape 4"/>
          <p:cNvSpPr/>
          <p:nvPr/>
        </p:nvSpPr>
        <p:spPr>
          <a:xfrm>
            <a:off x="548640" y="1234440"/>
            <a:ext cx="11064240" cy="0"/>
          </a:xfrm>
          <a:prstGeom prst="line">
            <a:avLst/>
          </a:prstGeom>
          <a:noFill/>
          <a:ln w="12700">
            <a:solidFill>
              <a:srgbClr val="E5E7EB"/>
            </a:solidFill>
            <a:prstDash val="solid"/>
          </a:ln>
        </p:spPr>
      </p:sp>
      <p:sp>
        <p:nvSpPr>
          <p:cNvPr id="7" name="Shape 5"/>
          <p:cNvSpPr/>
          <p:nvPr/>
        </p:nvSpPr>
        <p:spPr>
          <a:xfrm>
            <a:off x="731520" y="1554480"/>
            <a:ext cx="3383280" cy="1234440"/>
          </a:xfrm>
          <a:prstGeom prst="roundRect">
            <a:avLst>
              <a:gd name="adj" fmla="val 4444"/>
            </a:avLst>
          </a:prstGeom>
          <a:solidFill>
            <a:srgbClr val="FFFFFF"/>
          </a:solidFill>
          <a:ln w="12700">
            <a:solidFill>
              <a:srgbClr val="E5E7EB"/>
            </a:solidFill>
            <a:prstDash val="solid"/>
          </a:ln>
        </p:spPr>
      </p:sp>
      <p:sp>
        <p:nvSpPr>
          <p:cNvPr id="8" name="Text 6"/>
          <p:cNvSpPr/>
          <p:nvPr/>
        </p:nvSpPr>
        <p:spPr>
          <a:xfrm>
            <a:off x="896112" y="1700784"/>
            <a:ext cx="30540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Missing API fields</a:t>
            </a:r>
            <a:endParaRPr lang="en-US" sz="1400" dirty="0"/>
          </a:p>
        </p:txBody>
      </p:sp>
      <p:sp>
        <p:nvSpPr>
          <p:cNvPr id="9" name="Text 7"/>
          <p:cNvSpPr/>
          <p:nvPr/>
        </p:nvSpPr>
        <p:spPr>
          <a:xfrm>
            <a:off x="896112" y="2084832"/>
            <a:ext cx="3054096" cy="57607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Some articles had no author, description, content or publication date, so fallback values and cleaning steps were needed.</a:t>
            </a:r>
            <a:endParaRPr lang="en-US" sz="1150" dirty="0"/>
          </a:p>
        </p:txBody>
      </p:sp>
      <p:sp>
        <p:nvSpPr>
          <p:cNvPr id="10" name="Shape 8"/>
          <p:cNvSpPr/>
          <p:nvPr/>
        </p:nvSpPr>
        <p:spPr>
          <a:xfrm>
            <a:off x="4434840" y="1554480"/>
            <a:ext cx="3383280" cy="1234440"/>
          </a:xfrm>
          <a:prstGeom prst="roundRect">
            <a:avLst>
              <a:gd name="adj" fmla="val 4444"/>
            </a:avLst>
          </a:prstGeom>
          <a:solidFill>
            <a:srgbClr val="FFFFFF"/>
          </a:solidFill>
          <a:ln w="12700">
            <a:solidFill>
              <a:srgbClr val="E5E7EB"/>
            </a:solidFill>
            <a:prstDash val="solid"/>
          </a:ln>
        </p:spPr>
      </p:sp>
      <p:sp>
        <p:nvSpPr>
          <p:cNvPr id="11" name="Text 9"/>
          <p:cNvSpPr/>
          <p:nvPr/>
        </p:nvSpPr>
        <p:spPr>
          <a:xfrm>
            <a:off x="4599432" y="1700784"/>
            <a:ext cx="30540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Scraping restrictions</a:t>
            </a:r>
            <a:endParaRPr lang="en-US" sz="1400" dirty="0"/>
          </a:p>
        </p:txBody>
      </p:sp>
      <p:sp>
        <p:nvSpPr>
          <p:cNvPr id="12" name="Text 10"/>
          <p:cNvSpPr/>
          <p:nvPr/>
        </p:nvSpPr>
        <p:spPr>
          <a:xfrm>
            <a:off x="4599432" y="2084832"/>
            <a:ext cx="3054096" cy="57607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Some websites blocked scraping or used JavaScript-loaded content, so exception handling was necessary.</a:t>
            </a:r>
            <a:endParaRPr lang="en-US" sz="1150" dirty="0"/>
          </a:p>
        </p:txBody>
      </p:sp>
      <p:sp>
        <p:nvSpPr>
          <p:cNvPr id="13" name="Shape 11"/>
          <p:cNvSpPr/>
          <p:nvPr/>
        </p:nvSpPr>
        <p:spPr>
          <a:xfrm>
            <a:off x="8138160" y="1554480"/>
            <a:ext cx="3383280" cy="1234440"/>
          </a:xfrm>
          <a:prstGeom prst="roundRect">
            <a:avLst>
              <a:gd name="adj" fmla="val 4444"/>
            </a:avLst>
          </a:prstGeom>
          <a:solidFill>
            <a:srgbClr val="FFFFFF"/>
          </a:solidFill>
          <a:ln w="12700">
            <a:solidFill>
              <a:srgbClr val="E5E7EB"/>
            </a:solidFill>
            <a:prstDash val="solid"/>
          </a:ln>
        </p:spPr>
      </p:sp>
      <p:sp>
        <p:nvSpPr>
          <p:cNvPr id="14" name="Text 12"/>
          <p:cNvSpPr/>
          <p:nvPr/>
        </p:nvSpPr>
        <p:spPr>
          <a:xfrm>
            <a:off x="8302752" y="1700784"/>
            <a:ext cx="30540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Duplicate articles</a:t>
            </a:r>
            <a:endParaRPr lang="en-US" sz="1400" dirty="0"/>
          </a:p>
        </p:txBody>
      </p:sp>
      <p:sp>
        <p:nvSpPr>
          <p:cNvPr id="15" name="Text 13"/>
          <p:cNvSpPr/>
          <p:nvPr/>
        </p:nvSpPr>
        <p:spPr>
          <a:xfrm>
            <a:off x="8302752" y="2084832"/>
            <a:ext cx="3054096" cy="57607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Similar stories appeared across different sources, so duplicate removal improved the final dataset.</a:t>
            </a:r>
            <a:endParaRPr lang="en-US" sz="1150" dirty="0"/>
          </a:p>
        </p:txBody>
      </p:sp>
      <p:sp>
        <p:nvSpPr>
          <p:cNvPr id="16" name="Shape 14"/>
          <p:cNvSpPr/>
          <p:nvPr/>
        </p:nvSpPr>
        <p:spPr>
          <a:xfrm>
            <a:off x="731520" y="3794760"/>
            <a:ext cx="3383280" cy="1234440"/>
          </a:xfrm>
          <a:prstGeom prst="roundRect">
            <a:avLst>
              <a:gd name="adj" fmla="val 4444"/>
            </a:avLst>
          </a:prstGeom>
          <a:solidFill>
            <a:srgbClr val="FFFFFF"/>
          </a:solidFill>
          <a:ln w="12700">
            <a:solidFill>
              <a:srgbClr val="E5E7EB"/>
            </a:solidFill>
            <a:prstDash val="solid"/>
          </a:ln>
        </p:spPr>
      </p:sp>
      <p:sp>
        <p:nvSpPr>
          <p:cNvPr id="17" name="Text 15"/>
          <p:cNvSpPr/>
          <p:nvPr/>
        </p:nvSpPr>
        <p:spPr>
          <a:xfrm>
            <a:off x="896112" y="3941064"/>
            <a:ext cx="30540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Component integration</a:t>
            </a:r>
            <a:endParaRPr lang="en-US" sz="1400" dirty="0"/>
          </a:p>
        </p:txBody>
      </p:sp>
      <p:sp>
        <p:nvSpPr>
          <p:cNvPr id="18" name="Text 16"/>
          <p:cNvSpPr/>
          <p:nvPr/>
        </p:nvSpPr>
        <p:spPr>
          <a:xfrm>
            <a:off x="896112" y="4325112"/>
            <a:ext cx="3054096" cy="57607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API fetching, scraping, processing, charts, testing and GUI had to work as one combined application.</a:t>
            </a:r>
            <a:endParaRPr lang="en-US" sz="1150" dirty="0"/>
          </a:p>
        </p:txBody>
      </p:sp>
      <p:sp>
        <p:nvSpPr>
          <p:cNvPr id="19" name="Shape 17"/>
          <p:cNvSpPr/>
          <p:nvPr/>
        </p:nvSpPr>
        <p:spPr>
          <a:xfrm>
            <a:off x="4434840" y="3794760"/>
            <a:ext cx="3383280" cy="1234440"/>
          </a:xfrm>
          <a:prstGeom prst="roundRect">
            <a:avLst>
              <a:gd name="adj" fmla="val 4444"/>
            </a:avLst>
          </a:prstGeom>
          <a:solidFill>
            <a:srgbClr val="FFFFFF"/>
          </a:solidFill>
          <a:ln w="12700">
            <a:solidFill>
              <a:srgbClr val="E5E7EB"/>
            </a:solidFill>
            <a:prstDash val="solid"/>
          </a:ln>
        </p:spPr>
      </p:sp>
      <p:sp>
        <p:nvSpPr>
          <p:cNvPr id="20" name="Text 18"/>
          <p:cNvSpPr/>
          <p:nvPr/>
        </p:nvSpPr>
        <p:spPr>
          <a:xfrm>
            <a:off x="4599432" y="3941064"/>
            <a:ext cx="30540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Maintainability</a:t>
            </a:r>
            <a:endParaRPr lang="en-US" sz="1400" dirty="0"/>
          </a:p>
        </p:txBody>
      </p:sp>
      <p:sp>
        <p:nvSpPr>
          <p:cNvPr id="21" name="Text 19"/>
          <p:cNvSpPr/>
          <p:nvPr/>
        </p:nvSpPr>
        <p:spPr>
          <a:xfrm>
            <a:off x="4599432" y="4325112"/>
            <a:ext cx="3054096" cy="57607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The code was divided into classes and modules instead of one long script.</a:t>
            </a:r>
            <a:endParaRPr lang="en-US" sz="1150" dirty="0"/>
          </a:p>
        </p:txBody>
      </p:sp>
      <p:sp>
        <p:nvSpPr>
          <p:cNvPr id="22" name="Shape 20"/>
          <p:cNvSpPr/>
          <p:nvPr/>
        </p:nvSpPr>
        <p:spPr>
          <a:xfrm>
            <a:off x="8138160" y="3794760"/>
            <a:ext cx="3383280" cy="1234440"/>
          </a:xfrm>
          <a:prstGeom prst="roundRect">
            <a:avLst>
              <a:gd name="adj" fmla="val 4444"/>
            </a:avLst>
          </a:prstGeom>
          <a:solidFill>
            <a:srgbClr val="FFFFFF"/>
          </a:solidFill>
          <a:ln w="12700">
            <a:solidFill>
              <a:srgbClr val="E5E7EB"/>
            </a:solidFill>
            <a:prstDash val="solid"/>
          </a:ln>
        </p:spPr>
      </p:sp>
      <p:sp>
        <p:nvSpPr>
          <p:cNvPr id="23" name="Text 21"/>
          <p:cNvSpPr/>
          <p:nvPr/>
        </p:nvSpPr>
        <p:spPr>
          <a:xfrm>
            <a:off x="8302752" y="3941064"/>
            <a:ext cx="30540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Usability</a:t>
            </a:r>
            <a:endParaRPr lang="en-US" sz="1400" dirty="0"/>
          </a:p>
        </p:txBody>
      </p:sp>
      <p:sp>
        <p:nvSpPr>
          <p:cNvPr id="24" name="Text 22"/>
          <p:cNvSpPr/>
          <p:nvPr/>
        </p:nvSpPr>
        <p:spPr>
          <a:xfrm>
            <a:off x="8302752" y="4325112"/>
            <a:ext cx="3054096" cy="576072"/>
          </a:xfrm>
          <a:prstGeom prst="rect">
            <a:avLst/>
          </a:prstGeom>
          <a:noFill/>
          <a:ln/>
        </p:spPr>
        <p:txBody>
          <a:bodyPr wrap="square" lIns="254" tIns="254" rIns="254" bIns="254" rtlCol="0" anchor="t">
            <a:normAutofit/>
          </a:bodyPr>
          <a:lstStyle/>
          <a:p>
            <a:pPr marL="0" indent="0">
              <a:buNone/>
            </a:pPr>
            <a:r>
              <a:rPr lang="en-US" sz="1150" dirty="0">
                <a:solidFill>
                  <a:srgbClr val="1F2937"/>
                </a:solidFill>
              </a:rPr>
              <a:t>The GUI was included so users can interact with the program more easily.</a:t>
            </a:r>
            <a:endParaRPr lang="en-US" sz="1150" dirty="0"/>
          </a:p>
        </p:txBody>
      </p:sp>
      <p:sp>
        <p:nvSpPr>
          <p:cNvPr id="25" name="Text 23"/>
          <p:cNvSpPr/>
          <p:nvPr/>
        </p:nvSpPr>
        <p:spPr>
          <a:xfrm>
            <a:off x="11201400" y="6327648"/>
            <a:ext cx="411480" cy="228600"/>
          </a:xfrm>
          <a:prstGeom prst="rect">
            <a:avLst/>
          </a:prstGeom>
          <a:noFill/>
          <a:ln/>
        </p:spPr>
        <p:txBody>
          <a:bodyPr wrap="square" lIns="0" tIns="0" rIns="0" bIns="0" rtlCol="0" anchor="ctr"/>
          <a:lstStyle/>
          <a:p>
            <a:pPr marL="0" indent="0" algn="r">
              <a:buNone/>
            </a:pPr>
            <a:r>
              <a:rPr lang="en-US" sz="900" dirty="0">
                <a:solidFill>
                  <a:srgbClr val="6B7280"/>
                </a:solidFill>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3261E"/>
          </a:solidFill>
          <a:ln w="12700">
            <a:solidFill>
              <a:srgbClr val="B3261E">
                <a:alpha val="0"/>
              </a:srgbClr>
            </a:solidFill>
            <a:prstDash val="solid"/>
          </a:ln>
        </p:spPr>
      </p:sp>
      <p:sp>
        <p:nvSpPr>
          <p:cNvPr id="3" name="Shape 1"/>
          <p:cNvSpPr/>
          <p:nvPr/>
        </p:nvSpPr>
        <p:spPr>
          <a:xfrm>
            <a:off x="0" y="6720840"/>
            <a:ext cx="12191695" cy="137160"/>
          </a:xfrm>
          <a:prstGeom prst="rect">
            <a:avLst/>
          </a:prstGeom>
          <a:solidFill>
            <a:srgbClr val="FCEBE8"/>
          </a:solidFill>
          <a:ln w="12700">
            <a:solidFill>
              <a:srgbClr val="FCEBE8">
                <a:alpha val="0"/>
              </a:srgbClr>
            </a:solidFill>
            <a:prstDash val="solid"/>
          </a:ln>
        </p:spPr>
      </p:sp>
      <p:sp>
        <p:nvSpPr>
          <p:cNvPr id="4" name="Text 2"/>
          <p:cNvSpPr/>
          <p:nvPr/>
        </p:nvSpPr>
        <p:spPr>
          <a:xfrm>
            <a:off x="548640" y="384048"/>
            <a:ext cx="2194560" cy="228600"/>
          </a:xfrm>
          <a:prstGeom prst="rect">
            <a:avLst/>
          </a:prstGeom>
          <a:noFill/>
          <a:ln/>
        </p:spPr>
        <p:txBody>
          <a:bodyPr wrap="square" rtlCol="0" anchor="ctr">
            <a:normAutofit/>
          </a:bodyPr>
          <a:lstStyle/>
          <a:p>
            <a:pPr marL="0" indent="0">
              <a:buNone/>
            </a:pPr>
            <a:r>
              <a:rPr lang="en-US" sz="800" b="1" dirty="0">
                <a:solidFill>
                  <a:srgbClr val="B3261E"/>
                </a:solidFill>
                <a:latin typeface="Aptos" pitchFamily="34" charset="0"/>
                <a:ea typeface="Aptos" pitchFamily="34" charset="-122"/>
                <a:cs typeface="Aptos" pitchFamily="34" charset="-120"/>
              </a:rPr>
              <a:t>LIMITATIONS &amp; FUTURE WORK</a:t>
            </a:r>
            <a:endParaRPr lang="en-US" sz="800" dirty="0"/>
          </a:p>
        </p:txBody>
      </p:sp>
      <p:sp>
        <p:nvSpPr>
          <p:cNvPr id="5" name="Text 3"/>
          <p:cNvSpPr/>
          <p:nvPr/>
        </p:nvSpPr>
        <p:spPr>
          <a:xfrm>
            <a:off x="548640" y="667512"/>
            <a:ext cx="9784080" cy="438912"/>
          </a:xfrm>
          <a:prstGeom prst="rect">
            <a:avLst/>
          </a:prstGeom>
          <a:noFill/>
          <a:ln/>
        </p:spPr>
        <p:txBody>
          <a:bodyPr wrap="square" lIns="0" tIns="0" rIns="0" bIns="0" rtlCol="0" anchor="ctr">
            <a:normAutofit/>
          </a:bodyPr>
          <a:lstStyle/>
          <a:p>
            <a:pPr marL="0" indent="0">
              <a:buNone/>
            </a:pPr>
            <a:r>
              <a:rPr lang="en-US" sz="2500" b="1" dirty="0">
                <a:solidFill>
                  <a:srgbClr val="19324D"/>
                </a:solidFill>
                <a:latin typeface="Aptos Display" pitchFamily="34" charset="0"/>
                <a:ea typeface="Aptos Display" pitchFamily="34" charset="-122"/>
                <a:cs typeface="Aptos Display" pitchFamily="34" charset="-120"/>
              </a:rPr>
              <a:t>How the project can be improved</a:t>
            </a:r>
            <a:endParaRPr lang="en-US" sz="2500" dirty="0"/>
          </a:p>
        </p:txBody>
      </p:sp>
      <p:sp>
        <p:nvSpPr>
          <p:cNvPr id="6" name="Shape 4"/>
          <p:cNvSpPr/>
          <p:nvPr/>
        </p:nvSpPr>
        <p:spPr>
          <a:xfrm>
            <a:off x="548640" y="1234440"/>
            <a:ext cx="11064240" cy="0"/>
          </a:xfrm>
          <a:prstGeom prst="line">
            <a:avLst/>
          </a:prstGeom>
          <a:noFill/>
          <a:ln w="12700">
            <a:solidFill>
              <a:srgbClr val="E5E7EB"/>
            </a:solidFill>
            <a:prstDash val="solid"/>
          </a:ln>
        </p:spPr>
      </p:sp>
      <p:sp>
        <p:nvSpPr>
          <p:cNvPr id="7" name="Shape 5"/>
          <p:cNvSpPr/>
          <p:nvPr/>
        </p:nvSpPr>
        <p:spPr>
          <a:xfrm>
            <a:off x="685800" y="1508760"/>
            <a:ext cx="5074920" cy="1417320"/>
          </a:xfrm>
          <a:prstGeom prst="roundRect">
            <a:avLst>
              <a:gd name="adj" fmla="val 3871"/>
            </a:avLst>
          </a:prstGeom>
          <a:solidFill>
            <a:srgbClr val="FFFFFF"/>
          </a:solidFill>
          <a:ln w="12700">
            <a:solidFill>
              <a:srgbClr val="E5E7EB"/>
            </a:solidFill>
            <a:prstDash val="solid"/>
          </a:ln>
        </p:spPr>
      </p:sp>
      <p:sp>
        <p:nvSpPr>
          <p:cNvPr id="8" name="Text 6"/>
          <p:cNvSpPr/>
          <p:nvPr/>
        </p:nvSpPr>
        <p:spPr>
          <a:xfrm>
            <a:off x="850392" y="1655064"/>
            <a:ext cx="474573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Current limitations</a:t>
            </a:r>
            <a:endParaRPr lang="en-US" sz="1400" dirty="0"/>
          </a:p>
        </p:txBody>
      </p:sp>
      <p:sp>
        <p:nvSpPr>
          <p:cNvPr id="9" name="Text 7"/>
          <p:cNvSpPr/>
          <p:nvPr/>
        </p:nvSpPr>
        <p:spPr>
          <a:xfrm>
            <a:off x="850392" y="2039112"/>
            <a:ext cx="4745736" cy="758952"/>
          </a:xfrm>
          <a:prstGeom prst="rect">
            <a:avLst/>
          </a:prstGeom>
          <a:noFill/>
          <a:ln/>
        </p:spPr>
        <p:txBody>
          <a:bodyPr wrap="square" lIns="254" tIns="254" rIns="254" bIns="254" rtlCol="0" anchor="t">
            <a:normAutofit lnSpcReduction="10000"/>
          </a:bodyPr>
          <a:lstStyle/>
          <a:p>
            <a:pPr marL="0" indent="0">
              <a:buNone/>
            </a:pPr>
            <a:r>
              <a:rPr lang="en-US" sz="1350" dirty="0">
                <a:solidFill>
                  <a:srgbClr val="1F2937"/>
                </a:solidFill>
              </a:rPr>
              <a:t>Scraped content is not always available because websites use different structures, block automated access or load article text dynamically. In these cases, the application keeps the API information and continues running.</a:t>
            </a:r>
            <a:endParaRPr lang="en-US" sz="1350" dirty="0"/>
          </a:p>
        </p:txBody>
      </p:sp>
      <p:sp>
        <p:nvSpPr>
          <p:cNvPr id="10" name="Shape 8"/>
          <p:cNvSpPr/>
          <p:nvPr/>
        </p:nvSpPr>
        <p:spPr>
          <a:xfrm>
            <a:off x="6355080" y="1508760"/>
            <a:ext cx="5074920" cy="1417320"/>
          </a:xfrm>
          <a:prstGeom prst="roundRect">
            <a:avLst>
              <a:gd name="adj" fmla="val 3871"/>
            </a:avLst>
          </a:prstGeom>
          <a:solidFill>
            <a:srgbClr val="FFFFFF"/>
          </a:solidFill>
          <a:ln w="12700">
            <a:solidFill>
              <a:srgbClr val="E5E7EB"/>
            </a:solidFill>
            <a:prstDash val="solid"/>
          </a:ln>
        </p:spPr>
      </p:sp>
      <p:sp>
        <p:nvSpPr>
          <p:cNvPr id="11" name="Text 9"/>
          <p:cNvSpPr/>
          <p:nvPr/>
        </p:nvSpPr>
        <p:spPr>
          <a:xfrm>
            <a:off x="6519672" y="1655064"/>
            <a:ext cx="474573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Future improvements</a:t>
            </a:r>
            <a:endParaRPr lang="en-US" sz="1400" dirty="0"/>
          </a:p>
        </p:txBody>
      </p:sp>
      <p:sp>
        <p:nvSpPr>
          <p:cNvPr id="12" name="Text 10"/>
          <p:cNvSpPr/>
          <p:nvPr/>
        </p:nvSpPr>
        <p:spPr>
          <a:xfrm>
            <a:off x="6519672" y="2039112"/>
            <a:ext cx="4745736" cy="758952"/>
          </a:xfrm>
          <a:prstGeom prst="rect">
            <a:avLst/>
          </a:prstGeom>
          <a:noFill/>
          <a:ln/>
        </p:spPr>
        <p:txBody>
          <a:bodyPr wrap="square" lIns="254" tIns="254" rIns="254" bIns="254" rtlCol="0" anchor="t">
            <a:normAutofit/>
          </a:bodyPr>
          <a:lstStyle/>
          <a:p>
            <a:pPr marL="0" indent="0">
              <a:buNone/>
            </a:pPr>
            <a:r>
              <a:rPr lang="en-US" sz="1350" dirty="0">
                <a:solidFill>
                  <a:srgbClr val="1F2937"/>
                </a:solidFill>
              </a:rPr>
              <a:t>Add keyword search, more news APIs, interactive Plotly charts, Excel export, improved scraping rules and stronger unit testing for GUI and API components.</a:t>
            </a:r>
            <a:endParaRPr lang="en-US" sz="1350" dirty="0"/>
          </a:p>
        </p:txBody>
      </p:sp>
      <p:sp>
        <p:nvSpPr>
          <p:cNvPr id="13" name="Shape 11"/>
          <p:cNvSpPr/>
          <p:nvPr/>
        </p:nvSpPr>
        <p:spPr>
          <a:xfrm>
            <a:off x="1005840" y="3886200"/>
            <a:ext cx="1828800" cy="731520"/>
          </a:xfrm>
          <a:prstGeom prst="roundRect">
            <a:avLst>
              <a:gd name="adj" fmla="val 10000"/>
            </a:avLst>
          </a:prstGeom>
          <a:solidFill>
            <a:srgbClr val="FCEBE8"/>
          </a:solidFill>
          <a:ln w="12700">
            <a:solidFill>
              <a:srgbClr val="F0C5C0"/>
            </a:solidFill>
            <a:prstDash val="solid"/>
          </a:ln>
        </p:spPr>
      </p:sp>
      <p:sp>
        <p:nvSpPr>
          <p:cNvPr id="14" name="Text 12"/>
          <p:cNvSpPr/>
          <p:nvPr/>
        </p:nvSpPr>
        <p:spPr>
          <a:xfrm>
            <a:off x="1188720" y="4023360"/>
            <a:ext cx="1463040" cy="320040"/>
          </a:xfrm>
          <a:prstGeom prst="rect">
            <a:avLst/>
          </a:prstGeom>
          <a:noFill/>
          <a:ln/>
        </p:spPr>
        <p:txBody>
          <a:bodyPr wrap="square" lIns="0" tIns="0" rIns="0" bIns="0" rtlCol="0" anchor="ctr">
            <a:normAutofit fontScale="92500" lnSpcReduction="20000"/>
          </a:bodyPr>
          <a:lstStyle/>
          <a:p>
            <a:pPr marL="0" indent="0" algn="ctr">
              <a:buNone/>
            </a:pPr>
            <a:r>
              <a:rPr lang="en-US" sz="1300" b="1" dirty="0">
                <a:solidFill>
                  <a:srgbClr val="B3261E"/>
                </a:solidFill>
              </a:rPr>
              <a:t>Keyword</a:t>
            </a:r>
            <a:endParaRPr lang="en-US" sz="1300" dirty="0"/>
          </a:p>
          <a:p>
            <a:pPr marL="0" indent="0" algn="ctr">
              <a:buNone/>
            </a:pPr>
            <a:r>
              <a:rPr lang="en-US" sz="1300" b="1" dirty="0">
                <a:solidFill>
                  <a:srgbClr val="B3261E"/>
                </a:solidFill>
              </a:rPr>
              <a:t>search</a:t>
            </a:r>
            <a:endParaRPr lang="en-US" sz="1300" dirty="0"/>
          </a:p>
        </p:txBody>
      </p:sp>
      <p:sp>
        <p:nvSpPr>
          <p:cNvPr id="15" name="Shape 13"/>
          <p:cNvSpPr/>
          <p:nvPr/>
        </p:nvSpPr>
        <p:spPr>
          <a:xfrm>
            <a:off x="3246120" y="3886200"/>
            <a:ext cx="1828800" cy="731520"/>
          </a:xfrm>
          <a:prstGeom prst="roundRect">
            <a:avLst>
              <a:gd name="adj" fmla="val 10000"/>
            </a:avLst>
          </a:prstGeom>
          <a:solidFill>
            <a:srgbClr val="FCEBE8"/>
          </a:solidFill>
          <a:ln w="12700">
            <a:solidFill>
              <a:srgbClr val="F0C5C0"/>
            </a:solidFill>
            <a:prstDash val="solid"/>
          </a:ln>
        </p:spPr>
      </p:sp>
      <p:sp>
        <p:nvSpPr>
          <p:cNvPr id="16" name="Text 14"/>
          <p:cNvSpPr/>
          <p:nvPr/>
        </p:nvSpPr>
        <p:spPr>
          <a:xfrm>
            <a:off x="3429000" y="4023360"/>
            <a:ext cx="1463040" cy="320040"/>
          </a:xfrm>
          <a:prstGeom prst="rect">
            <a:avLst/>
          </a:prstGeom>
          <a:noFill/>
          <a:ln/>
        </p:spPr>
        <p:txBody>
          <a:bodyPr wrap="square" lIns="0" tIns="0" rIns="0" bIns="0" rtlCol="0" anchor="ctr">
            <a:normAutofit fontScale="92500" lnSpcReduction="20000"/>
          </a:bodyPr>
          <a:lstStyle/>
          <a:p>
            <a:pPr marL="0" indent="0" algn="ctr">
              <a:buNone/>
            </a:pPr>
            <a:r>
              <a:rPr lang="en-US" sz="1300" b="1" dirty="0">
                <a:solidFill>
                  <a:srgbClr val="B3261E"/>
                </a:solidFill>
              </a:rPr>
              <a:t>Excel</a:t>
            </a:r>
            <a:endParaRPr lang="en-US" sz="1300" dirty="0"/>
          </a:p>
          <a:p>
            <a:pPr marL="0" indent="0" algn="ctr">
              <a:buNone/>
            </a:pPr>
            <a:r>
              <a:rPr lang="en-US" sz="1300" b="1" dirty="0">
                <a:solidFill>
                  <a:srgbClr val="B3261E"/>
                </a:solidFill>
              </a:rPr>
              <a:t>export</a:t>
            </a:r>
            <a:endParaRPr lang="en-US" sz="1300" dirty="0"/>
          </a:p>
        </p:txBody>
      </p:sp>
      <p:sp>
        <p:nvSpPr>
          <p:cNvPr id="17" name="Shape 15"/>
          <p:cNvSpPr/>
          <p:nvPr/>
        </p:nvSpPr>
        <p:spPr>
          <a:xfrm>
            <a:off x="5486400" y="3886200"/>
            <a:ext cx="1828800" cy="731520"/>
          </a:xfrm>
          <a:prstGeom prst="roundRect">
            <a:avLst>
              <a:gd name="adj" fmla="val 10000"/>
            </a:avLst>
          </a:prstGeom>
          <a:solidFill>
            <a:srgbClr val="FCEBE8"/>
          </a:solidFill>
          <a:ln w="12700">
            <a:solidFill>
              <a:srgbClr val="F0C5C0"/>
            </a:solidFill>
            <a:prstDash val="solid"/>
          </a:ln>
        </p:spPr>
      </p:sp>
      <p:sp>
        <p:nvSpPr>
          <p:cNvPr id="18" name="Text 16"/>
          <p:cNvSpPr/>
          <p:nvPr/>
        </p:nvSpPr>
        <p:spPr>
          <a:xfrm>
            <a:off x="5669280" y="4023360"/>
            <a:ext cx="1463040" cy="320040"/>
          </a:xfrm>
          <a:prstGeom prst="rect">
            <a:avLst/>
          </a:prstGeom>
          <a:noFill/>
          <a:ln/>
        </p:spPr>
        <p:txBody>
          <a:bodyPr wrap="square" lIns="0" tIns="0" rIns="0" bIns="0" rtlCol="0" anchor="ctr">
            <a:normAutofit fontScale="92500" lnSpcReduction="20000"/>
          </a:bodyPr>
          <a:lstStyle/>
          <a:p>
            <a:pPr marL="0" indent="0" algn="ctr">
              <a:buNone/>
            </a:pPr>
            <a:r>
              <a:rPr lang="en-US" sz="1300" b="1" dirty="0">
                <a:solidFill>
                  <a:srgbClr val="B3261E"/>
                </a:solidFill>
              </a:rPr>
              <a:t>Interactive</a:t>
            </a:r>
            <a:endParaRPr lang="en-US" sz="1300" dirty="0"/>
          </a:p>
          <a:p>
            <a:pPr marL="0" indent="0" algn="ctr">
              <a:buNone/>
            </a:pPr>
            <a:r>
              <a:rPr lang="en-US" sz="1300" b="1" dirty="0">
                <a:solidFill>
                  <a:srgbClr val="B3261E"/>
                </a:solidFill>
              </a:rPr>
              <a:t>charts</a:t>
            </a:r>
            <a:endParaRPr lang="en-US" sz="1300" dirty="0"/>
          </a:p>
        </p:txBody>
      </p:sp>
      <p:sp>
        <p:nvSpPr>
          <p:cNvPr id="19" name="Shape 17"/>
          <p:cNvSpPr/>
          <p:nvPr/>
        </p:nvSpPr>
        <p:spPr>
          <a:xfrm>
            <a:off x="7726680" y="3886200"/>
            <a:ext cx="1828800" cy="731520"/>
          </a:xfrm>
          <a:prstGeom prst="roundRect">
            <a:avLst>
              <a:gd name="adj" fmla="val 10000"/>
            </a:avLst>
          </a:prstGeom>
          <a:solidFill>
            <a:srgbClr val="FCEBE8"/>
          </a:solidFill>
          <a:ln w="12700">
            <a:solidFill>
              <a:srgbClr val="F0C5C0"/>
            </a:solidFill>
            <a:prstDash val="solid"/>
          </a:ln>
        </p:spPr>
      </p:sp>
      <p:sp>
        <p:nvSpPr>
          <p:cNvPr id="20" name="Text 18"/>
          <p:cNvSpPr/>
          <p:nvPr/>
        </p:nvSpPr>
        <p:spPr>
          <a:xfrm>
            <a:off x="7909560" y="4023360"/>
            <a:ext cx="1463040" cy="320040"/>
          </a:xfrm>
          <a:prstGeom prst="rect">
            <a:avLst/>
          </a:prstGeom>
          <a:noFill/>
          <a:ln/>
        </p:spPr>
        <p:txBody>
          <a:bodyPr wrap="square" lIns="0" tIns="0" rIns="0" bIns="0" rtlCol="0" anchor="ctr">
            <a:normAutofit fontScale="92500" lnSpcReduction="20000"/>
          </a:bodyPr>
          <a:lstStyle/>
          <a:p>
            <a:pPr marL="0" indent="0" algn="ctr">
              <a:buNone/>
            </a:pPr>
            <a:r>
              <a:rPr lang="en-US" sz="1300" b="1" dirty="0">
                <a:solidFill>
                  <a:srgbClr val="B3261E"/>
                </a:solidFill>
              </a:rPr>
              <a:t>More</a:t>
            </a:r>
            <a:endParaRPr lang="en-US" sz="1300" dirty="0"/>
          </a:p>
          <a:p>
            <a:pPr marL="0" indent="0" algn="ctr">
              <a:buNone/>
            </a:pPr>
            <a:r>
              <a:rPr lang="en-US" sz="1300" b="1" dirty="0">
                <a:solidFill>
                  <a:srgbClr val="B3261E"/>
                </a:solidFill>
              </a:rPr>
              <a:t>APIs</a:t>
            </a:r>
            <a:endParaRPr lang="en-US" sz="1300" dirty="0"/>
          </a:p>
        </p:txBody>
      </p:sp>
      <p:sp>
        <p:nvSpPr>
          <p:cNvPr id="21" name="Shape 19"/>
          <p:cNvSpPr/>
          <p:nvPr/>
        </p:nvSpPr>
        <p:spPr>
          <a:xfrm>
            <a:off x="9966960" y="3886200"/>
            <a:ext cx="1828800" cy="731520"/>
          </a:xfrm>
          <a:prstGeom prst="roundRect">
            <a:avLst>
              <a:gd name="adj" fmla="val 10000"/>
            </a:avLst>
          </a:prstGeom>
          <a:solidFill>
            <a:srgbClr val="FCEBE8"/>
          </a:solidFill>
          <a:ln w="12700">
            <a:solidFill>
              <a:srgbClr val="F0C5C0"/>
            </a:solidFill>
            <a:prstDash val="solid"/>
          </a:ln>
        </p:spPr>
      </p:sp>
      <p:sp>
        <p:nvSpPr>
          <p:cNvPr id="22" name="Text 20"/>
          <p:cNvSpPr/>
          <p:nvPr/>
        </p:nvSpPr>
        <p:spPr>
          <a:xfrm>
            <a:off x="10149840" y="4023360"/>
            <a:ext cx="1463040" cy="320040"/>
          </a:xfrm>
          <a:prstGeom prst="rect">
            <a:avLst/>
          </a:prstGeom>
          <a:noFill/>
          <a:ln/>
        </p:spPr>
        <p:txBody>
          <a:bodyPr wrap="square" lIns="0" tIns="0" rIns="0" bIns="0" rtlCol="0" anchor="ctr">
            <a:normAutofit fontScale="92500" lnSpcReduction="20000"/>
          </a:bodyPr>
          <a:lstStyle/>
          <a:p>
            <a:pPr marL="0" indent="0" algn="ctr">
              <a:buNone/>
            </a:pPr>
            <a:r>
              <a:rPr lang="en-US" sz="1300" b="1" dirty="0">
                <a:solidFill>
                  <a:srgbClr val="B3261E"/>
                </a:solidFill>
              </a:rPr>
              <a:t>Better</a:t>
            </a:r>
            <a:endParaRPr lang="en-US" sz="1300" dirty="0"/>
          </a:p>
          <a:p>
            <a:pPr marL="0" indent="0" algn="ctr">
              <a:buNone/>
            </a:pPr>
            <a:r>
              <a:rPr lang="en-US" sz="1300" b="1" dirty="0">
                <a:solidFill>
                  <a:srgbClr val="B3261E"/>
                </a:solidFill>
              </a:rPr>
              <a:t>tests</a:t>
            </a:r>
            <a:endParaRPr lang="en-US" sz="1300" dirty="0"/>
          </a:p>
        </p:txBody>
      </p:sp>
      <p:sp>
        <p:nvSpPr>
          <p:cNvPr id="23" name="Text 21"/>
          <p:cNvSpPr/>
          <p:nvPr/>
        </p:nvSpPr>
        <p:spPr>
          <a:xfrm>
            <a:off x="11201400" y="6327648"/>
            <a:ext cx="411480" cy="228600"/>
          </a:xfrm>
          <a:prstGeom prst="rect">
            <a:avLst/>
          </a:prstGeom>
          <a:noFill/>
          <a:ln/>
        </p:spPr>
        <p:txBody>
          <a:bodyPr wrap="square" lIns="0" tIns="0" rIns="0" bIns="0" rtlCol="0" anchor="ctr"/>
          <a:lstStyle/>
          <a:p>
            <a:pPr marL="0" indent="0" algn="r">
              <a:buNone/>
            </a:pPr>
            <a:r>
              <a:rPr lang="en-US" sz="900" dirty="0">
                <a:solidFill>
                  <a:srgbClr val="6B7280"/>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3261E"/>
          </a:solidFill>
          <a:ln w="12700">
            <a:solidFill>
              <a:srgbClr val="B3261E">
                <a:alpha val="0"/>
              </a:srgbClr>
            </a:solidFill>
            <a:prstDash val="solid"/>
          </a:ln>
        </p:spPr>
      </p:sp>
      <p:sp>
        <p:nvSpPr>
          <p:cNvPr id="3" name="Shape 1"/>
          <p:cNvSpPr/>
          <p:nvPr/>
        </p:nvSpPr>
        <p:spPr>
          <a:xfrm>
            <a:off x="0" y="6720840"/>
            <a:ext cx="12191695" cy="137160"/>
          </a:xfrm>
          <a:prstGeom prst="rect">
            <a:avLst/>
          </a:prstGeom>
          <a:solidFill>
            <a:srgbClr val="FCEBE8"/>
          </a:solidFill>
          <a:ln w="12700">
            <a:solidFill>
              <a:srgbClr val="FCEBE8">
                <a:alpha val="0"/>
              </a:srgbClr>
            </a:solidFill>
            <a:prstDash val="solid"/>
          </a:ln>
        </p:spPr>
      </p:sp>
      <p:sp>
        <p:nvSpPr>
          <p:cNvPr id="4" name="Text 2"/>
          <p:cNvSpPr/>
          <p:nvPr/>
        </p:nvSpPr>
        <p:spPr>
          <a:xfrm>
            <a:off x="658368" y="594360"/>
            <a:ext cx="3657600" cy="457200"/>
          </a:xfrm>
          <a:prstGeom prst="rect">
            <a:avLst/>
          </a:prstGeom>
          <a:noFill/>
          <a:ln/>
        </p:spPr>
        <p:txBody>
          <a:bodyPr wrap="square" lIns="0" tIns="0" rIns="0" bIns="0" rtlCol="0" anchor="ctr"/>
          <a:lstStyle/>
          <a:p>
            <a:pPr marL="0" indent="0">
              <a:buNone/>
            </a:pPr>
            <a:r>
              <a:rPr lang="en-US" sz="3000" b="1" dirty="0">
                <a:solidFill>
                  <a:srgbClr val="19324D"/>
                </a:solidFill>
              </a:rPr>
              <a:t>Conclusion</a:t>
            </a:r>
            <a:endParaRPr lang="en-US" sz="3000" dirty="0"/>
          </a:p>
        </p:txBody>
      </p:sp>
      <p:sp>
        <p:nvSpPr>
          <p:cNvPr id="5" name="Text 3"/>
          <p:cNvSpPr/>
          <p:nvPr/>
        </p:nvSpPr>
        <p:spPr>
          <a:xfrm>
            <a:off x="685800" y="1207008"/>
            <a:ext cx="7772400" cy="347472"/>
          </a:xfrm>
          <a:prstGeom prst="rect">
            <a:avLst/>
          </a:prstGeom>
          <a:noFill/>
          <a:ln/>
        </p:spPr>
        <p:txBody>
          <a:bodyPr wrap="square" lIns="0" tIns="0" rIns="0" bIns="0" rtlCol="0" anchor="ctr"/>
          <a:lstStyle/>
          <a:p>
            <a:pPr marL="0" indent="0">
              <a:buNone/>
            </a:pPr>
            <a:r>
              <a:rPr lang="en-US" sz="1800" b="1" dirty="0">
                <a:solidFill>
                  <a:srgbClr val="B3261E"/>
                </a:solidFill>
              </a:rPr>
              <a:t>A complete Python-based information aggregation system</a:t>
            </a:r>
            <a:endParaRPr lang="en-US" sz="1800" dirty="0"/>
          </a:p>
        </p:txBody>
      </p:sp>
      <p:sp>
        <p:nvSpPr>
          <p:cNvPr id="6" name="Text 4"/>
          <p:cNvSpPr/>
          <p:nvPr/>
        </p:nvSpPr>
        <p:spPr>
          <a:xfrm>
            <a:off x="713232" y="1920240"/>
            <a:ext cx="5760720" cy="1325880"/>
          </a:xfrm>
          <a:prstGeom prst="rect">
            <a:avLst/>
          </a:prstGeom>
          <a:noFill/>
          <a:ln/>
        </p:spPr>
        <p:txBody>
          <a:bodyPr wrap="square" lIns="635" tIns="635" rIns="635" bIns="635" rtlCol="0" anchor="t">
            <a:normAutofit fontScale="92500" lnSpcReduction="10000"/>
          </a:bodyPr>
          <a:lstStyle/>
          <a:p>
            <a:pPr marL="0" indent="0" algn="l">
              <a:buNone/>
            </a:pPr>
            <a:r>
              <a:rPr lang="en-US" sz="1700" dirty="0">
                <a:solidFill>
                  <a:srgbClr val="1F2937"/>
                </a:solidFill>
                <a:latin typeface="Aptos" pitchFamily="34" charset="0"/>
                <a:ea typeface="Aptos" pitchFamily="34" charset="-122"/>
                <a:cs typeface="Aptos" pitchFamily="34" charset="-120"/>
              </a:rPr>
              <a:t>The project successfully combines API integration, web scraping, data cleaning, CSV export, visualisation, object-oriented programming, unit testing and a Tkinter GUI. The modular design makes the program easier to understand, maintain and extend, while exception handling helps manage real-world website limitations.</a:t>
            </a:r>
            <a:endParaRPr lang="en-US" sz="1700" dirty="0"/>
          </a:p>
        </p:txBody>
      </p:sp>
      <p:sp>
        <p:nvSpPr>
          <p:cNvPr id="7" name="Shape 5"/>
          <p:cNvSpPr/>
          <p:nvPr/>
        </p:nvSpPr>
        <p:spPr>
          <a:xfrm>
            <a:off x="6949440" y="1828800"/>
            <a:ext cx="4297680" cy="868680"/>
          </a:xfrm>
          <a:prstGeom prst="roundRect">
            <a:avLst>
              <a:gd name="adj" fmla="val 6316"/>
            </a:avLst>
          </a:prstGeom>
          <a:solidFill>
            <a:srgbClr val="FCEBE8"/>
          </a:solidFill>
          <a:ln w="12700">
            <a:solidFill>
              <a:srgbClr val="E5E7EB"/>
            </a:solidFill>
            <a:prstDash val="solid"/>
          </a:ln>
        </p:spPr>
      </p:sp>
      <p:sp>
        <p:nvSpPr>
          <p:cNvPr id="8" name="Text 6"/>
          <p:cNvSpPr/>
          <p:nvPr/>
        </p:nvSpPr>
        <p:spPr>
          <a:xfrm>
            <a:off x="7114032" y="1975104"/>
            <a:ext cx="39684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Main achievement</a:t>
            </a:r>
            <a:endParaRPr lang="en-US" sz="1400" dirty="0"/>
          </a:p>
        </p:txBody>
      </p:sp>
      <p:sp>
        <p:nvSpPr>
          <p:cNvPr id="9" name="Text 7"/>
          <p:cNvSpPr/>
          <p:nvPr/>
        </p:nvSpPr>
        <p:spPr>
          <a:xfrm>
            <a:off x="7114032" y="2359152"/>
            <a:ext cx="3968496" cy="210312"/>
          </a:xfrm>
          <a:prstGeom prst="rect">
            <a:avLst/>
          </a:prstGeom>
          <a:noFill/>
          <a:ln/>
        </p:spPr>
        <p:txBody>
          <a:bodyPr wrap="square" lIns="254" tIns="254" rIns="254" bIns="254" rtlCol="0" anchor="t">
            <a:normAutofit fontScale="62500" lnSpcReduction="20000"/>
          </a:bodyPr>
          <a:lstStyle/>
          <a:p>
            <a:pPr marL="0" indent="0">
              <a:buNone/>
            </a:pPr>
            <a:r>
              <a:rPr lang="en-US" sz="1350" dirty="0">
                <a:solidFill>
                  <a:srgbClr val="1F2937"/>
                </a:solidFill>
              </a:rPr>
              <a:t>The system turns online news data into a structured, reusable and visualised dataset.</a:t>
            </a:r>
            <a:endParaRPr lang="en-US" sz="1350" dirty="0"/>
          </a:p>
        </p:txBody>
      </p:sp>
      <p:sp>
        <p:nvSpPr>
          <p:cNvPr id="10" name="Shape 8"/>
          <p:cNvSpPr/>
          <p:nvPr/>
        </p:nvSpPr>
        <p:spPr>
          <a:xfrm>
            <a:off x="6949440" y="2999232"/>
            <a:ext cx="4297680" cy="868680"/>
          </a:xfrm>
          <a:prstGeom prst="roundRect">
            <a:avLst>
              <a:gd name="adj" fmla="val 6316"/>
            </a:avLst>
          </a:prstGeom>
          <a:solidFill>
            <a:srgbClr val="FCEBE8"/>
          </a:solidFill>
          <a:ln w="12700">
            <a:solidFill>
              <a:srgbClr val="E5E7EB"/>
            </a:solidFill>
            <a:prstDash val="solid"/>
          </a:ln>
        </p:spPr>
      </p:sp>
      <p:sp>
        <p:nvSpPr>
          <p:cNvPr id="11" name="Text 9"/>
          <p:cNvSpPr/>
          <p:nvPr/>
        </p:nvSpPr>
        <p:spPr>
          <a:xfrm>
            <a:off x="7114032" y="3145536"/>
            <a:ext cx="39684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Strong design</a:t>
            </a:r>
            <a:endParaRPr lang="en-US" sz="1400" dirty="0"/>
          </a:p>
        </p:txBody>
      </p:sp>
      <p:sp>
        <p:nvSpPr>
          <p:cNvPr id="12" name="Text 10"/>
          <p:cNvSpPr/>
          <p:nvPr/>
        </p:nvSpPr>
        <p:spPr>
          <a:xfrm>
            <a:off x="7114032" y="3529584"/>
            <a:ext cx="3968496" cy="210312"/>
          </a:xfrm>
          <a:prstGeom prst="rect">
            <a:avLst/>
          </a:prstGeom>
          <a:noFill/>
          <a:ln/>
        </p:spPr>
        <p:txBody>
          <a:bodyPr wrap="square" lIns="254" tIns="254" rIns="254" bIns="254" rtlCol="0" anchor="t">
            <a:normAutofit fontScale="70000" lnSpcReduction="20000"/>
          </a:bodyPr>
          <a:lstStyle/>
          <a:p>
            <a:pPr marL="0" indent="0">
              <a:buNone/>
            </a:pPr>
            <a:r>
              <a:rPr lang="en-US" sz="1350" dirty="0">
                <a:solidFill>
                  <a:srgbClr val="1F2937"/>
                </a:solidFill>
              </a:rPr>
              <a:t>Classes and modules separate responsibilities clearly and support testing.</a:t>
            </a:r>
            <a:endParaRPr lang="en-US" sz="1350" dirty="0"/>
          </a:p>
        </p:txBody>
      </p:sp>
      <p:sp>
        <p:nvSpPr>
          <p:cNvPr id="13" name="Shape 11"/>
          <p:cNvSpPr/>
          <p:nvPr/>
        </p:nvSpPr>
        <p:spPr>
          <a:xfrm>
            <a:off x="6949440" y="4169664"/>
            <a:ext cx="4297680" cy="868680"/>
          </a:xfrm>
          <a:prstGeom prst="roundRect">
            <a:avLst>
              <a:gd name="adj" fmla="val 6316"/>
            </a:avLst>
          </a:prstGeom>
          <a:solidFill>
            <a:srgbClr val="FCEBE8"/>
          </a:solidFill>
          <a:ln w="12700">
            <a:solidFill>
              <a:srgbClr val="E5E7EB"/>
            </a:solidFill>
            <a:prstDash val="solid"/>
          </a:ln>
        </p:spPr>
      </p:sp>
      <p:sp>
        <p:nvSpPr>
          <p:cNvPr id="14" name="Text 12"/>
          <p:cNvSpPr/>
          <p:nvPr/>
        </p:nvSpPr>
        <p:spPr>
          <a:xfrm>
            <a:off x="7114032" y="4315968"/>
            <a:ext cx="3968496" cy="292608"/>
          </a:xfrm>
          <a:prstGeom prst="rect">
            <a:avLst/>
          </a:prstGeom>
          <a:noFill/>
          <a:ln/>
        </p:spPr>
        <p:txBody>
          <a:bodyPr wrap="square" lIns="0" tIns="0" rIns="0" bIns="0" rtlCol="0" anchor="ctr">
            <a:normAutofit/>
          </a:bodyPr>
          <a:lstStyle/>
          <a:p>
            <a:pPr marL="0" indent="0">
              <a:buNone/>
            </a:pPr>
            <a:r>
              <a:rPr lang="en-US" sz="1400" b="1" dirty="0">
                <a:solidFill>
                  <a:srgbClr val="B3261E"/>
                </a:solidFill>
              </a:rPr>
              <a:t>Practical outcome</a:t>
            </a:r>
            <a:endParaRPr lang="en-US" sz="1400" dirty="0"/>
          </a:p>
        </p:txBody>
      </p:sp>
      <p:sp>
        <p:nvSpPr>
          <p:cNvPr id="15" name="Text 13"/>
          <p:cNvSpPr/>
          <p:nvPr/>
        </p:nvSpPr>
        <p:spPr>
          <a:xfrm>
            <a:off x="7114032" y="4700016"/>
            <a:ext cx="3968496" cy="210312"/>
          </a:xfrm>
          <a:prstGeom prst="rect">
            <a:avLst/>
          </a:prstGeom>
          <a:noFill/>
          <a:ln/>
        </p:spPr>
        <p:txBody>
          <a:bodyPr wrap="square" lIns="254" tIns="254" rIns="254" bIns="254" rtlCol="0" anchor="t">
            <a:normAutofit fontScale="70000" lnSpcReduction="20000"/>
          </a:bodyPr>
          <a:lstStyle/>
          <a:p>
            <a:pPr marL="0" indent="0">
              <a:buNone/>
            </a:pPr>
            <a:r>
              <a:rPr lang="en-US" sz="1350" dirty="0">
                <a:solidFill>
                  <a:srgbClr val="1F2937"/>
                </a:solidFill>
              </a:rPr>
              <a:t>Users can collect and review news without writing command-line commands.</a:t>
            </a:r>
            <a:endParaRPr lang="en-US" sz="1350" dirty="0"/>
          </a:p>
        </p:txBody>
      </p:sp>
      <p:sp>
        <p:nvSpPr>
          <p:cNvPr id="16" name="Shape 14"/>
          <p:cNvSpPr/>
          <p:nvPr/>
        </p:nvSpPr>
        <p:spPr>
          <a:xfrm>
            <a:off x="685800" y="5806440"/>
            <a:ext cx="10789920" cy="0"/>
          </a:xfrm>
          <a:prstGeom prst="line">
            <a:avLst/>
          </a:prstGeom>
          <a:noFill/>
          <a:ln w="12700">
            <a:solidFill>
              <a:srgbClr val="E5E7EB"/>
            </a:solidFill>
            <a:prstDash val="solid"/>
          </a:ln>
        </p:spPr>
      </p:sp>
      <p:sp>
        <p:nvSpPr>
          <p:cNvPr id="17" name="Text 15"/>
          <p:cNvSpPr/>
          <p:nvPr/>
        </p:nvSpPr>
        <p:spPr>
          <a:xfrm>
            <a:off x="685800" y="6071616"/>
            <a:ext cx="5486400" cy="228600"/>
          </a:xfrm>
          <a:prstGeom prst="rect">
            <a:avLst/>
          </a:prstGeom>
          <a:noFill/>
          <a:ln/>
        </p:spPr>
        <p:txBody>
          <a:bodyPr wrap="square" lIns="0" tIns="0" rIns="0" bIns="0" rtlCol="0" anchor="ctr"/>
          <a:lstStyle/>
          <a:p>
            <a:pPr marL="0" indent="0">
              <a:buNone/>
            </a:pPr>
            <a:r>
              <a:rPr lang="en-US" sz="1100" dirty="0">
                <a:solidFill>
                  <a:srgbClr val="6B7280"/>
                </a:solidFill>
              </a:rPr>
              <a:t>News Information Aggregator  ·  Python Programming</a:t>
            </a:r>
            <a:endParaRPr lang="en-US" sz="1100" dirty="0"/>
          </a:p>
        </p:txBody>
      </p:sp>
      <p:sp>
        <p:nvSpPr>
          <p:cNvPr id="18" name="Text 16"/>
          <p:cNvSpPr/>
          <p:nvPr/>
        </p:nvSpPr>
        <p:spPr>
          <a:xfrm>
            <a:off x="11201400" y="6327648"/>
            <a:ext cx="411480" cy="228600"/>
          </a:xfrm>
          <a:prstGeom prst="rect">
            <a:avLst/>
          </a:prstGeom>
          <a:noFill/>
          <a:ln/>
        </p:spPr>
        <p:txBody>
          <a:bodyPr wrap="square" lIns="0" tIns="0" rIns="0" bIns="0" rtlCol="0" anchor="ctr"/>
          <a:lstStyle/>
          <a:p>
            <a:pPr marL="0" indent="0" algn="r">
              <a:buNone/>
            </a:pPr>
            <a:r>
              <a:rPr lang="en-US" sz="900" dirty="0">
                <a:solidFill>
                  <a:srgbClr val="6B7280"/>
                </a:solidFill>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1034</Words>
  <Application>Microsoft Office PowerPoint</Application>
  <PresentationFormat>Widescreen</PresentationFormat>
  <Paragraphs>177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News Information Aggregator</dc:title>
  <dc:subject>News Information Aggregator</dc:subject>
  <dc:creator>ChatGPT</dc:creator>
  <cp:lastModifiedBy>hemanth r</cp:lastModifiedBy>
  <cp:revision>2</cp:revision>
  <dcterms:created xsi:type="dcterms:W3CDTF">2026-05-30T10:36:28Z</dcterms:created>
  <dcterms:modified xsi:type="dcterms:W3CDTF">2026-05-30T10:44:44Z</dcterms:modified>
</cp:coreProperties>
</file>